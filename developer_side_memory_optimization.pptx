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E5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0040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200" b="1">
                <a:solidFill>
                  <a:srgbClr val="006D77"/>
                </a:solidFill>
                <a:latin typeface="Aptos"/>
              </a:rPr>
              <a:t>DEVELOPER WEBINAR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004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100" b="1">
                <a:solidFill>
                  <a:srgbClr val="5F6D76"/>
                </a:solidFill>
                <a:latin typeface="Aptos"/>
              </a:rPr>
              <a:t>1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6446520"/>
            <a:ext cx="107899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0">
                <a:solidFill>
                  <a:srgbClr val="5F6D76"/>
                </a:solidFill>
                <a:latin typeface="Aptos"/>
              </a:rPr>
              <a:t>30-40 minutes | Prepared for August 15,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325880"/>
            <a:ext cx="10424160" cy="16002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4200" b="1">
                <a:solidFill>
                  <a:srgbClr val="17202A"/>
                </a:solidFill>
                <a:latin typeface="Aptos"/>
              </a:rPr>
              <a:t>Developer-Side Memory Optimization for Reducing Token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80944"/>
            <a:ext cx="8961120" cy="4572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300" b="0">
                <a:solidFill>
                  <a:srgbClr val="5F6D76"/>
                </a:solidFill>
                <a:latin typeface="Aptos"/>
              </a:rPr>
              <a:t>For API-based chatbots, websites, support systems, and internal tools.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794760"/>
            <a:ext cx="914400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3858768"/>
            <a:ext cx="82296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ctr"/>
            <a:r>
              <a:rPr sz="1300" b="1">
                <a:solidFill>
                  <a:srgbClr val="17202A"/>
                </a:solidFill>
                <a:latin typeface="Aptos"/>
              </a:rPr>
              <a:t>Prune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19072" y="3794760"/>
            <a:ext cx="1389888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64792" y="3858768"/>
            <a:ext cx="1298448" cy="21031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ctr"/>
            <a:r>
              <a:rPr sz="1300" b="1">
                <a:solidFill>
                  <a:srgbClr val="17202A"/>
                </a:solidFill>
                <a:latin typeface="Aptos"/>
              </a:rPr>
              <a:t>Summarize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3" y="3794760"/>
            <a:ext cx="1271016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00983" y="3858768"/>
            <a:ext cx="1179576" cy="21031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ctr"/>
            <a:r>
              <a:rPr sz="1300" b="1">
                <a:solidFill>
                  <a:srgbClr val="17202A"/>
                </a:solidFill>
                <a:latin typeface="Aptos"/>
              </a:rPr>
              <a:t>Retrieve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72583" y="3794760"/>
            <a:ext cx="1865376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18303" y="3858768"/>
            <a:ext cx="1773936" cy="21031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ctr"/>
            <a:r>
              <a:rPr sz="1300" b="1">
                <a:solidFill>
                  <a:srgbClr val="17202A"/>
                </a:solidFill>
                <a:latin typeface="Aptos"/>
              </a:rPr>
              <a:t>Cache answers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84264" y="3794760"/>
            <a:ext cx="1984248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9983" y="3858768"/>
            <a:ext cx="1892807" cy="21031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ctr"/>
            <a:r>
              <a:rPr sz="1300" b="1">
                <a:solidFill>
                  <a:srgbClr val="17202A"/>
                </a:solidFill>
                <a:latin typeface="Aptos"/>
              </a:rPr>
              <a:t>Control output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14816" y="3794760"/>
            <a:ext cx="914400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0536" y="3858768"/>
            <a:ext cx="82296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ctr"/>
            <a:r>
              <a:rPr sz="1300" b="1">
                <a:solidFill>
                  <a:srgbClr val="17202A"/>
                </a:solidFill>
                <a:latin typeface="Aptos"/>
              </a:rPr>
              <a:t>Batch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0" y="3794760"/>
            <a:ext cx="914400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21240" y="3858768"/>
            <a:ext cx="82296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ctr"/>
            <a:r>
              <a:rPr sz="1300" b="1">
                <a:solidFill>
                  <a:srgbClr val="17202A"/>
                </a:solidFill>
                <a:latin typeface="Aptos"/>
              </a:rPr>
              <a:t>Route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E5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0040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200" b="1">
                <a:solidFill>
                  <a:srgbClr val="006D77"/>
                </a:solidFill>
                <a:latin typeface="Aptos"/>
              </a:rPr>
              <a:t>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004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100" b="1">
                <a:solidFill>
                  <a:srgbClr val="5F6D76"/>
                </a:solidFill>
                <a:latin typeface="Aptos"/>
              </a:rPr>
              <a:t>2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7202A"/>
                </a:solidFill>
                <a:latin typeface="Aptos"/>
              </a:rPr>
              <a:t>This talk is about what our app controls.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46520"/>
            <a:ext cx="107899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0">
                <a:solidFill>
                  <a:srgbClr val="5F6D76"/>
                </a:solidFill>
                <a:latin typeface="Aptos"/>
              </a:rPr>
              <a:t>Main correction: we optimize our API system, not the provider's backend.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516636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73152" cy="3474720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93392"/>
            <a:ext cx="4873752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Developer-side decisions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450592"/>
            <a:ext cx="4837176" cy="2724912"/>
          </a:xfrm>
          <a:prstGeom prst="rect">
            <a:avLst/>
          </a:prstGeom>
          <a:noFill/>
        </p:spPr>
        <p:txBody>
          <a:bodyPr wrap="square" lIns="146304" rIns="45720" tIns="36576" bIns="36576">
            <a:normAutofit/>
          </a:bodyPr>
          <a:lstStyle/>
          <a:p>
            <a:pPr/>
            <a:r>
              <a:rPr sz="1700">
                <a:solidFill>
                  <a:srgbClr val="17202A"/>
                </a:solidFill>
                <a:latin typeface="Aptos"/>
              </a:rPr>
              <a:t>- What history to send</a:t>
            </a:r>
          </a:p>
          <a:p>
            <a:pPr/>
            <a:r>
              <a:rPr sz="1700">
                <a:solidFill>
                  <a:srgbClr val="17202A"/>
                </a:solidFill>
                <a:latin typeface="Aptos"/>
              </a:rPr>
              <a:t>- Which document chunks to send</a:t>
            </a:r>
          </a:p>
          <a:p>
            <a:pPr/>
            <a:r>
              <a:rPr sz="1700">
                <a:solidFill>
                  <a:srgbClr val="17202A"/>
                </a:solidFill>
                <a:latin typeface="Aptos"/>
              </a:rPr>
              <a:t>- When to call the LLM</a:t>
            </a:r>
          </a:p>
          <a:p>
            <a:pPr/>
            <a:r>
              <a:rPr sz="1700">
                <a:solidFill>
                  <a:srgbClr val="17202A"/>
                </a:solidFill>
                <a:latin typeface="Aptos"/>
              </a:rPr>
              <a:t>- How long the output should be</a:t>
            </a:r>
          </a:p>
          <a:p>
            <a:pPr/>
            <a:r>
              <a:rPr sz="1700">
                <a:solidFill>
                  <a:srgbClr val="17202A"/>
                </a:solidFill>
                <a:latin typeface="Aptos"/>
              </a:rPr>
              <a:t>- Which model should handle the task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28800"/>
            <a:ext cx="516636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828800"/>
            <a:ext cx="73152" cy="3474720"/>
          </a:xfrm>
          <a:prstGeom prst="rect">
            <a:avLst/>
          </a:prstGeom>
          <a:solidFill>
            <a:srgbClr val="B64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1993392"/>
            <a:ext cx="4873752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Not the main focus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7" y="2450592"/>
            <a:ext cx="4837176" cy="2724912"/>
          </a:xfrm>
          <a:prstGeom prst="rect">
            <a:avLst/>
          </a:prstGeom>
          <a:noFill/>
        </p:spPr>
        <p:txBody>
          <a:bodyPr wrap="square" lIns="146304" rIns="45720" tIns="36576" bIns="36576">
            <a:normAutofit/>
          </a:bodyPr>
          <a:lstStyle/>
          <a:p>
            <a:pPr/>
            <a:r>
              <a:rPr sz="1700">
                <a:solidFill>
                  <a:srgbClr val="17202A"/>
                </a:solidFill>
                <a:latin typeface="Aptos"/>
              </a:rPr>
              <a:t>- Provider internal caching</a:t>
            </a:r>
          </a:p>
          <a:p>
            <a:pPr/>
            <a:r>
              <a:rPr sz="1700">
                <a:solidFill>
                  <a:srgbClr val="17202A"/>
                </a:solidFill>
                <a:latin typeface="Aptos"/>
              </a:rPr>
              <a:t>- Provider infrastructure tricks</a:t>
            </a:r>
          </a:p>
          <a:p>
            <a:pPr/>
            <a:r>
              <a:rPr sz="1700">
                <a:solidFill>
                  <a:srgbClr val="17202A"/>
                </a:solidFill>
                <a:latin typeface="Aptos"/>
              </a:rPr>
              <a:t>- Exact pricing tables</a:t>
            </a:r>
          </a:p>
          <a:p>
            <a:pPr/>
            <a:r>
              <a:rPr sz="1700">
                <a:solidFill>
                  <a:srgbClr val="17202A"/>
                </a:solidFill>
                <a:latin typeface="Aptos"/>
              </a:rPr>
              <a:t>- Hidden model implementation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E5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0040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200" b="1">
                <a:solidFill>
                  <a:srgbClr val="006D77"/>
                </a:solidFill>
                <a:latin typeface="Aptos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004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100" b="1">
                <a:solidFill>
                  <a:srgbClr val="5F6D76"/>
                </a:solidFill>
                <a:latin typeface="Aptos"/>
              </a:rPr>
              <a:t>3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7202A"/>
                </a:solidFill>
                <a:latin typeface="Aptos"/>
              </a:rPr>
              <a:t>Token cost grows when a chatbot keeps sending everything.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46520"/>
            <a:ext cx="107899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0">
                <a:solidFill>
                  <a:srgbClr val="5F6D76"/>
                </a:solidFill>
                <a:latin typeface="Aptos"/>
              </a:rPr>
              <a:t>Memory is useful, but memory is not free.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3401568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73152" cy="1920240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039112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Input grows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532887"/>
            <a:ext cx="3108960" cy="11155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0">
                <a:solidFill>
                  <a:srgbClr val="17202A"/>
                </a:solidFill>
                <a:latin typeface="Aptos"/>
              </a:rPr>
              <a:t>System prompt, chat history, documents, tools, and retrieved data enter every request.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1874519"/>
            <a:ext cx="3401568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874519"/>
            <a:ext cx="73152" cy="1920240"/>
          </a:xfrm>
          <a:prstGeom prst="rect">
            <a:avLst/>
          </a:prstGeom>
          <a:solidFill>
            <a:srgbClr val="C27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039112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Output grows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532887"/>
            <a:ext cx="3108960" cy="11155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0">
                <a:solidFill>
                  <a:srgbClr val="17202A"/>
                </a:solidFill>
                <a:latin typeface="Aptos"/>
              </a:rPr>
              <a:t>Long answers, explanations, and verbose JSON increase generated tokens.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874519"/>
            <a:ext cx="3401568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874519"/>
            <a:ext cx="73152" cy="1920240"/>
          </a:xfrm>
          <a:prstGeom prst="rect">
            <a:avLst/>
          </a:prstGeom>
          <a:solidFill>
            <a:srgbClr val="355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2039112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Calls grow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2532887"/>
            <a:ext cx="3108960" cy="11155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0">
                <a:solidFill>
                  <a:srgbClr val="17202A"/>
                </a:solidFill>
                <a:latin typeface="Aptos"/>
              </a:rPr>
              <a:t>Repeated FAQs and offline jobs can trigger unnecessary API calls.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72000"/>
            <a:ext cx="996696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ctr"/>
            <a:r>
              <a:rPr sz="2400" b="1">
                <a:solidFill>
                  <a:srgbClr val="17202A"/>
                </a:solidFill>
                <a:latin typeface="Aptos"/>
              </a:rPr>
              <a:t>Cost opportunity = fewer input tokens + fewer output tokens + fewer API calls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E5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0040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200" b="1">
                <a:solidFill>
                  <a:srgbClr val="006D77"/>
                </a:solidFill>
                <a:latin typeface="Aptos"/>
              </a:rPr>
              <a:t>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004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100" b="1">
                <a:solidFill>
                  <a:srgbClr val="5F6D76"/>
                </a:solidFill>
                <a:latin typeface="Aptos"/>
              </a:rPr>
              <a:t>4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7202A"/>
                </a:solidFill>
                <a:latin typeface="Aptos"/>
              </a:rPr>
              <a:t>Token cost basics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46520"/>
            <a:ext cx="107899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0">
                <a:solidFill>
                  <a:srgbClr val="5F6D76"/>
                </a:solidFill>
                <a:latin typeface="Aptos"/>
              </a:rPr>
              <a:t>Optimization controls what goes in, what comes out, and whether the call is needed.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51663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737360"/>
            <a:ext cx="73152" cy="1508760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01952"/>
            <a:ext cx="4873752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Input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395728"/>
            <a:ext cx="4873752" cy="704087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0">
                <a:solidFill>
                  <a:srgbClr val="17202A"/>
                </a:solidFill>
                <a:latin typeface="Aptos"/>
              </a:rPr>
              <a:t>Instructions, user message, history, documents, tools, examples, and formatting rules.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37360"/>
            <a:ext cx="51663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37360"/>
            <a:ext cx="73152" cy="1508760"/>
          </a:xfrm>
          <a:prstGeom prst="rect">
            <a:avLst/>
          </a:prstGeom>
          <a:solidFill>
            <a:srgbClr val="C27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1901952"/>
            <a:ext cx="4873752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Output tokens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2395728"/>
            <a:ext cx="4873752" cy="704087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0">
                <a:solidFill>
                  <a:srgbClr val="17202A"/>
                </a:solidFill>
                <a:latin typeface="Aptos"/>
              </a:rPr>
              <a:t>Everything generated by the model. Short useful answers reduce cost and latency.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703320"/>
            <a:ext cx="51663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3703320"/>
            <a:ext cx="73152" cy="1508760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3867911"/>
            <a:ext cx="4873752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Context window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4361688"/>
            <a:ext cx="4873752" cy="704087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0">
                <a:solidFill>
                  <a:srgbClr val="17202A"/>
                </a:solidFill>
                <a:latin typeface="Aptos"/>
              </a:rPr>
              <a:t>The maximum information a model can consider in one request.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1663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703320"/>
            <a:ext cx="73152" cy="1508760"/>
          </a:xfrm>
          <a:prstGeom prst="rect">
            <a:avLst/>
          </a:prstGeom>
          <a:solidFill>
            <a:srgbClr val="355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3867911"/>
            <a:ext cx="4873752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API call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1" y="4361688"/>
            <a:ext cx="4873752" cy="704087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0">
                <a:solidFill>
                  <a:srgbClr val="17202A"/>
                </a:solidFill>
                <a:latin typeface="Aptos"/>
              </a:rPr>
              <a:t>Every model request can cost money. Avoiding a call can be better than shrinking a prompt.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E5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0040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200" b="1">
                <a:solidFill>
                  <a:srgbClr val="006D77"/>
                </a:solidFill>
                <a:latin typeface="Aptos"/>
              </a:rPr>
              <a:t>MENTAL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004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100" b="1">
                <a:solidFill>
                  <a:srgbClr val="5F6D76"/>
                </a:solidFill>
                <a:latin typeface="Aptos"/>
              </a:rPr>
              <a:t>5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7202A"/>
                </a:solidFill>
                <a:latin typeface="Aptos"/>
              </a:rPr>
              <a:t>Put memory in the cheapest useful 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46520"/>
            <a:ext cx="107899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0">
                <a:solidFill>
                  <a:srgbClr val="5F6D76"/>
                </a:solidFill>
                <a:latin typeface="Aptos"/>
              </a:rPr>
              <a:t>The model does not know what is important unless our app chooses.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20240"/>
            <a:ext cx="2487168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920240"/>
            <a:ext cx="73152" cy="2011680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084832"/>
            <a:ext cx="21945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578608"/>
            <a:ext cx="2194560" cy="120700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500" b="0">
                <a:solidFill>
                  <a:srgbClr val="17202A"/>
                </a:solidFill>
                <a:latin typeface="Aptos"/>
              </a:rPr>
              <a:t>Only what the model needs right now.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1920240"/>
            <a:ext cx="2487168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2152" y="1920240"/>
            <a:ext cx="73152" cy="2011680"/>
          </a:xfrm>
          <a:prstGeom prst="rect">
            <a:avLst/>
          </a:prstGeom>
          <a:solidFill>
            <a:srgbClr val="C27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6744" y="2084832"/>
            <a:ext cx="21945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Summary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6744" y="2578608"/>
            <a:ext cx="2194560" cy="120700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500" b="0">
                <a:solidFill>
                  <a:srgbClr val="17202A"/>
                </a:solidFill>
                <a:latin typeface="Aptos"/>
              </a:rPr>
              <a:t>Compressed old conversation.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18504" y="1920240"/>
            <a:ext cx="2487168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18504" y="1920240"/>
            <a:ext cx="73152" cy="2011680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2084832"/>
            <a:ext cx="21945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Documents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578608"/>
            <a:ext cx="2194560" cy="120700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500" b="0">
                <a:solidFill>
                  <a:srgbClr val="17202A"/>
                </a:solidFill>
                <a:latin typeface="Aptos"/>
              </a:rPr>
              <a:t>Stored outside the prompt and retrieved when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34856" y="1920240"/>
            <a:ext cx="2487168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34856" y="1920240"/>
            <a:ext cx="73152" cy="2011680"/>
          </a:xfrm>
          <a:prstGeom prst="rect">
            <a:avLst/>
          </a:prstGeom>
          <a:solidFill>
            <a:srgbClr val="355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9448" y="2084832"/>
            <a:ext cx="21945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Answer cache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9448" y="2578608"/>
            <a:ext cx="2194560" cy="120700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500" b="0">
                <a:solidFill>
                  <a:srgbClr val="17202A"/>
                </a:solidFill>
                <a:latin typeface="Aptos"/>
              </a:rPr>
              <a:t>Saved answers for repeated questions.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54880"/>
            <a:ext cx="10332720" cy="53035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ctr"/>
            <a:r>
              <a:rPr sz="2300" b="1">
                <a:solidFill>
                  <a:srgbClr val="17202A"/>
                </a:solidFill>
                <a:latin typeface="Aptos"/>
              </a:rPr>
              <a:t>The app decides what to remove, compress, retrieve, cache, limit, batch, or route.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E5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0040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200" b="1">
                <a:solidFill>
                  <a:srgbClr val="006D77"/>
                </a:solidFill>
                <a:latin typeface="Aptos"/>
              </a:rPr>
              <a:t>TECHNIQUE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004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100" b="1">
                <a:solidFill>
                  <a:srgbClr val="5F6D76"/>
                </a:solidFill>
                <a:latin typeface="Aptos"/>
              </a:rPr>
              <a:t>6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7202A"/>
                </a:solidFill>
                <a:latin typeface="Aptos"/>
              </a:rPr>
              <a:t>Prompt pruning: remove unnecessary prompt text.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46520"/>
            <a:ext cx="107899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0">
                <a:solidFill>
                  <a:srgbClr val="5F6D76"/>
                </a:solidFill>
                <a:latin typeface="Aptos"/>
              </a:rPr>
              <a:t>Names to mention: OpenAI, Claude, DeepSeek, LangChain.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516636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73152" cy="1920240"/>
          </a:xfrm>
          <a:prstGeom prst="rect">
            <a:avLst/>
          </a:prstGeom>
          <a:solidFill>
            <a:srgbClr val="B64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93392"/>
            <a:ext cx="4873752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487168"/>
            <a:ext cx="4873752" cy="11155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0">
                <a:solidFill>
                  <a:srgbClr val="17202A"/>
                </a:solidFill>
                <a:latin typeface="Aptos"/>
              </a:rPr>
              <a:t>Be helpful. Be friendly. Be concise. Do not be too long. Use simple language. Give bullet points if possible.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28800"/>
            <a:ext cx="516636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828800"/>
            <a:ext cx="73152" cy="1920240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1993392"/>
            <a:ext cx="4873752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2487168"/>
            <a:ext cx="4873752" cy="11155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800" b="0">
                <a:solidFill>
                  <a:srgbClr val="17202A"/>
                </a:solidFill>
                <a:latin typeface="Aptos"/>
              </a:rPr>
              <a:t>Answer in simple language using 3 concise bullet points.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4343400"/>
          <a:ext cx="106527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206240"/>
                <a:gridCol w="297180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202A"/>
                          </a:solidFill>
                          <a:latin typeface="Aptos"/>
                        </a:rPr>
                        <a:t>Manual</a:t>
                      </a:r>
                    </a:p>
                  </a:txBody>
                  <a:tcPr marL="73152" marR="73152" marT="45720" marB="45720">
                    <a:solidFill>
                      <a:srgbClr val="EBE6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202A"/>
                          </a:solidFill>
                          <a:latin typeface="Aptos"/>
                        </a:rPr>
                        <a:t>Automatic</a:t>
                      </a:r>
                    </a:p>
                  </a:txBody>
                  <a:tcPr marL="73152" marR="73152" marT="45720" marB="45720">
                    <a:solidFill>
                      <a:srgbClr val="EBE6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202A"/>
                          </a:solidFill>
                          <a:latin typeface="Aptos"/>
                        </a:rPr>
                        <a:t>Risk</a:t>
                      </a:r>
                    </a:p>
                  </a:txBody>
                  <a:tcPr marL="73152" marR="73152" marT="45720" marB="45720">
                    <a:solidFill>
                      <a:srgbClr val="EBE6D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2A"/>
                          </a:solidFill>
                          <a:latin typeface="Aptos"/>
                        </a:rPr>
                        <a:t>Remove repeated rules, unused examples, vague wording.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2A"/>
                          </a:solidFill>
                          <a:latin typeface="Aptos"/>
                        </a:rPr>
                        <a:t>Trim old messages by token limit, last N messages, or relevance.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2A"/>
                          </a:solidFill>
                          <a:latin typeface="Aptos"/>
                        </a:rPr>
                        <a:t>Removing important context can hurt quality.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E5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0040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200" b="1">
                <a:solidFill>
                  <a:srgbClr val="006D77"/>
                </a:solidFill>
                <a:latin typeface="Aptos"/>
              </a:rPr>
              <a:t>TECHNIQUE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004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100" b="1">
                <a:solidFill>
                  <a:srgbClr val="5F6D76"/>
                </a:solidFill>
                <a:latin typeface="Aptos"/>
              </a:rPr>
              <a:t>7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7202A"/>
                </a:solidFill>
                <a:latin typeface="Aptos"/>
              </a:rPr>
              <a:t>Conversation summary: compress old chat history.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46520"/>
            <a:ext cx="107899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0">
                <a:solidFill>
                  <a:srgbClr val="5F6D76"/>
                </a:solidFill>
                <a:latin typeface="Aptos"/>
              </a:rPr>
              <a:t>Names to mention: LangChain, OpenAI, Claude, DeepSeek.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51663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73152" cy="1600200"/>
          </a:xfrm>
          <a:prstGeom prst="rect">
            <a:avLst/>
          </a:prstGeom>
          <a:solidFill>
            <a:srgbClr val="B64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47672"/>
            <a:ext cx="4873752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441448"/>
            <a:ext cx="4873752" cy="79552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700" b="0">
                <a:solidFill>
                  <a:srgbClr val="17202A"/>
                </a:solidFill>
                <a:latin typeface="Aptos"/>
              </a:rPr>
              <a:t>Send all 40 previous messages every time the user asks a new question.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1663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73152" cy="1600200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1947672"/>
            <a:ext cx="4873752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2441448"/>
            <a:ext cx="4873752" cy="79552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700" b="0">
                <a:solidFill>
                  <a:srgbClr val="17202A"/>
                </a:solidFill>
                <a:latin typeface="Aptos"/>
              </a:rPr>
              <a:t>Send a short summary, important facts, and only the last 4-6 turns.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25880" y="3977639"/>
            <a:ext cx="9509760" cy="1325880"/>
          </a:xfrm>
          <a:prstGeom prst="roundRect">
            <a:avLst/>
          </a:prstGeom>
          <a:solidFill>
            <a:srgbClr val="17202A"/>
          </a:solidFill>
          <a:ln>
            <a:solidFill>
              <a:srgbClr val="1720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90472" y="4105655"/>
            <a:ext cx="9198864" cy="1106424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0">
                <a:solidFill>
                  <a:srgbClr val="F7F5EE"/>
                </a:solidFill>
                <a:latin typeface="Consolas"/>
              </a:rPr>
              <a:t>Summary:</a:t>
            </a:r>
            <a:br/>
            <a:r>
              <a:rPr>
                <a:latin typeface="Consolas"/>
              </a:rPr>
              <a:t>User wants refund for order #123.</a:t>
            </a:r>
            <a:br/>
            <a:r>
              <a:rPr>
                <a:latin typeface="Consolas"/>
              </a:rPr>
              <a:t>Reset email did not arrive.</a:t>
            </a:r>
            <a:br/>
            <a:r>
              <a:rPr>
                <a:latin typeface="Consolas"/>
              </a:rPr>
              <a:t>User prefers short step-by-step instructions.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E5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0040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200" b="1">
                <a:solidFill>
                  <a:srgbClr val="006D77"/>
                </a:solidFill>
                <a:latin typeface="Aptos"/>
              </a:rPr>
              <a:t>TECHNIQUE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004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100" b="1">
                <a:solidFill>
                  <a:srgbClr val="5F6D76"/>
                </a:solidFill>
                <a:latin typeface="Aptos"/>
              </a:rPr>
              <a:t>8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7202A"/>
                </a:solidFill>
                <a:latin typeface="Aptos"/>
              </a:rPr>
              <a:t>Retrieval/RAG: send relevant document chunks, not the whole library.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46520"/>
            <a:ext cx="107899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0">
                <a:solidFill>
                  <a:srgbClr val="5F6D76"/>
                </a:solidFill>
                <a:latin typeface="Aptos"/>
              </a:rPr>
              <a:t>Names to mention: Pinecone, Weaviate, Microsoft Azure AI Search, OpenAI vector stores.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248716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73152" cy="1965960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039112"/>
            <a:ext cx="21945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Store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532887"/>
            <a:ext cx="2194560" cy="116128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500" b="0">
                <a:solidFill>
                  <a:srgbClr val="17202A"/>
                </a:solidFill>
                <a:latin typeface="Aptos"/>
              </a:rPr>
              <a:t>PDF, docs, FAQ, policy files.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1874519"/>
            <a:ext cx="248716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2152" y="1874519"/>
            <a:ext cx="73152" cy="1965960"/>
          </a:xfrm>
          <a:prstGeom prst="rect">
            <a:avLst/>
          </a:prstGeom>
          <a:solidFill>
            <a:srgbClr val="C27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6744" y="2039112"/>
            <a:ext cx="21945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6744" y="2532887"/>
            <a:ext cx="2194560" cy="116128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500" b="0">
                <a:solidFill>
                  <a:srgbClr val="17202A"/>
                </a:solidFill>
                <a:latin typeface="Aptos"/>
              </a:rPr>
              <a:t>Find chunks matching the question.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18504" y="1874519"/>
            <a:ext cx="248716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18504" y="1874519"/>
            <a:ext cx="73152" cy="1965960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2039112"/>
            <a:ext cx="21945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Send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532887"/>
            <a:ext cx="2194560" cy="116128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500" b="0">
                <a:solidFill>
                  <a:srgbClr val="17202A"/>
                </a:solidFill>
                <a:latin typeface="Aptos"/>
              </a:rPr>
              <a:t>Only top relevant chunks enter the prompt.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34856" y="1874519"/>
            <a:ext cx="248716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34856" y="1874519"/>
            <a:ext cx="73152" cy="1965960"/>
          </a:xfrm>
          <a:prstGeom prst="rect">
            <a:avLst/>
          </a:prstGeom>
          <a:solidFill>
            <a:srgbClr val="355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9448" y="2039112"/>
            <a:ext cx="21945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Answer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9448" y="2532887"/>
            <a:ext cx="2194560" cy="116128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500" b="0">
                <a:solidFill>
                  <a:srgbClr val="17202A"/>
                </a:solidFill>
                <a:latin typeface="Aptos"/>
              </a:rPr>
              <a:t>LLM writes using focused context.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663440"/>
            <a:ext cx="10424160" cy="6858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ctr"/>
            <a:r>
              <a:rPr sz="2200" b="1">
                <a:solidFill>
                  <a:srgbClr val="17202A"/>
                </a:solidFill>
                <a:latin typeface="Aptos"/>
              </a:rPr>
              <a:t>RAG still uses the LLM. It saves input tokens by making the LLM read only the useful part.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E5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0040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200" b="1">
                <a:solidFill>
                  <a:srgbClr val="006D77"/>
                </a:solidFill>
                <a:latin typeface="Aptos"/>
              </a:rPr>
              <a:t>RAG CLARIFICATION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004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100" b="1">
                <a:solidFill>
                  <a:srgbClr val="5F6D76"/>
                </a:solidFill>
                <a:latin typeface="Aptos"/>
              </a:rPr>
              <a:t>9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7202A"/>
                </a:solidFill>
                <a:latin typeface="Aptos"/>
              </a:rPr>
              <a:t>File upload vs custom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46520"/>
            <a:ext cx="107899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0">
                <a:solidFill>
                  <a:srgbClr val="5F6D76"/>
                </a:solidFill>
                <a:latin typeface="Aptos"/>
              </a:rPr>
              <a:t>RAG saves tokens only if retrieval finds the right chunks.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51663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73152" cy="1828800"/>
          </a:xfrm>
          <a:prstGeom prst="rect">
            <a:avLst/>
          </a:prstGeom>
          <a:solidFill>
            <a:srgbClr val="C27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47672"/>
            <a:ext cx="4873752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Traditional upload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441448"/>
            <a:ext cx="4873752" cy="102412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0">
                <a:solidFill>
                  <a:srgbClr val="17202A"/>
                </a:solidFill>
                <a:latin typeface="Aptos"/>
              </a:rPr>
              <a:t>A platform may handle document reading internally. Developers usually do not control chunk size, ranking, or exact context.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1663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73152" cy="1828800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1947672"/>
            <a:ext cx="4873752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Custom RAG chatbot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2441448"/>
            <a:ext cx="4873752" cy="102412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0">
                <a:solidFill>
                  <a:srgbClr val="17202A"/>
                </a:solidFill>
                <a:latin typeface="Aptos"/>
              </a:rPr>
              <a:t>Your app stores docs, searches them, selects chunks, and sends only relevant context to the LLM API.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251960"/>
            <a:ext cx="10424160" cy="960120"/>
          </a:xfrm>
          <a:prstGeom prst="roundRect">
            <a:avLst/>
          </a:prstGeom>
          <a:solidFill>
            <a:srgbClr val="17202A"/>
          </a:solidFill>
          <a:ln>
            <a:solidFill>
              <a:srgbClr val="1720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1" y="4379976"/>
            <a:ext cx="10113264" cy="740664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500" b="0">
                <a:solidFill>
                  <a:srgbClr val="F7F5EE"/>
                </a:solidFill>
                <a:latin typeface="Consolas"/>
              </a:rPr>
              <a:t>Without RAG: full_document_tokens + question_tokens + answer_tokens</a:t>
            </a:r>
            <a:br/>
            <a:r>
              <a:rPr>
                <a:latin typeface="Consolas"/>
              </a:rPr>
              <a:t>With RAG: search_cost + relevant_chunk_tokens + question_tokens + answer_tokens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E5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0040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200" b="1">
                <a:solidFill>
                  <a:srgbClr val="006D77"/>
                </a:solidFill>
                <a:latin typeface="Aptos"/>
              </a:rPr>
              <a:t>TECHNIQUE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004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100" b="1">
                <a:solidFill>
                  <a:srgbClr val="5F6D76"/>
                </a:solidFill>
                <a:latin typeface="Aptos"/>
              </a:rPr>
              <a:t>10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7202A"/>
                </a:solidFill>
                <a:latin typeface="Aptos"/>
              </a:rPr>
              <a:t>Response caching: skip the LLM when an answer already exists.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46520"/>
            <a:ext cx="107899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0">
                <a:solidFill>
                  <a:srgbClr val="5F6D76"/>
                </a:solidFill>
                <a:latin typeface="Aptos"/>
              </a:rPr>
              <a:t>Names to mention: Redis, Cloudflare AI Gateway, LangChain, vector databases.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51663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73152" cy="1828800"/>
          </a:xfrm>
          <a:prstGeom prst="rect">
            <a:avLst/>
          </a:prstGeom>
          <a:solidFill>
            <a:srgbClr val="B64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93392"/>
            <a:ext cx="4873752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Without cache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487168"/>
            <a:ext cx="4873752" cy="102412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0">
                <a:solidFill>
                  <a:srgbClr val="17202A"/>
                </a:solidFill>
                <a:latin typeface="Aptos"/>
              </a:rPr>
              <a:t>Same FAQ question -&gt; call LLM -&gt; pay input tokens + output tokens every 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28800"/>
            <a:ext cx="51663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828800"/>
            <a:ext cx="73152" cy="1828800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1993392"/>
            <a:ext cx="4873752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With cache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2487168"/>
            <a:ext cx="4873752" cy="102412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0">
                <a:solidFill>
                  <a:srgbClr val="17202A"/>
                </a:solidFill>
                <a:latin typeface="Aptos"/>
              </a:rPr>
              <a:t>Same or similar FAQ question -&gt; return saved answer -&gt; no LLM token cost.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72000"/>
            <a:ext cx="1033272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ctr"/>
            <a:r>
              <a:rPr sz="2200" b="1">
                <a:solidFill>
                  <a:srgbClr val="17202A"/>
                </a:solidFill>
                <a:latin typeface="Aptos"/>
              </a:rPr>
              <a:t>Best for stable, repeatable questions: refund policy, pricing, password reset, admission rules.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E5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0040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200" b="1">
                <a:solidFill>
                  <a:srgbClr val="006D77"/>
                </a:solidFill>
                <a:latin typeface="Aptos"/>
              </a:rPr>
              <a:t>CACHING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004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100" b="1">
                <a:solidFill>
                  <a:srgbClr val="5F6D76"/>
                </a:solidFill>
                <a:latin typeface="Aptos"/>
              </a:rPr>
              <a:t>11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7202A"/>
                </a:solidFill>
                <a:latin typeface="Aptos"/>
              </a:rPr>
              <a:t>Three practical cache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46520"/>
            <a:ext cx="107899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0">
                <a:solidFill>
                  <a:srgbClr val="5F6D76"/>
                </a:solidFill>
                <a:latin typeface="Aptos"/>
              </a:rPr>
              <a:t>Warning: avoid blind caching for private, sensitive, or fast-changing answers.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3401568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73152" cy="1691640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993392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Exact cache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487168"/>
            <a:ext cx="3108960" cy="8869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0">
                <a:solidFill>
                  <a:srgbClr val="17202A"/>
                </a:solidFill>
                <a:latin typeface="Aptos"/>
              </a:rPr>
              <a:t>Same question text returns the same stored answer.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1828800"/>
            <a:ext cx="3401568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828800"/>
            <a:ext cx="73152" cy="1691640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993392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FAQ cache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87168"/>
            <a:ext cx="3108960" cy="8869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0">
                <a:solidFill>
                  <a:srgbClr val="17202A"/>
                </a:solidFill>
                <a:latin typeface="Aptos"/>
              </a:rPr>
              <a:t>Approved answers for common support questions.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828800"/>
            <a:ext cx="3401568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828800"/>
            <a:ext cx="73152" cy="1691640"/>
          </a:xfrm>
          <a:prstGeom prst="rect">
            <a:avLst/>
          </a:prstGeom>
          <a:solidFill>
            <a:srgbClr val="6841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993392"/>
            <a:ext cx="31089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Semantic cache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2487168"/>
            <a:ext cx="3108960" cy="8869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0">
                <a:solidFill>
                  <a:srgbClr val="17202A"/>
                </a:solidFill>
                <a:latin typeface="Aptos"/>
              </a:rPr>
              <a:t>Similar meaning returns a stored answer if similarity is high enough.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20240" y="4206240"/>
            <a:ext cx="8229600" cy="1143000"/>
          </a:xfrm>
          <a:prstGeom prst="roundRect">
            <a:avLst/>
          </a:prstGeom>
          <a:solidFill>
            <a:srgbClr val="17202A"/>
          </a:solidFill>
          <a:ln>
            <a:solidFill>
              <a:srgbClr val="1720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84832" y="4334255"/>
            <a:ext cx="7918704" cy="923544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600" b="0">
                <a:solidFill>
                  <a:srgbClr val="F7F5EE"/>
                </a:solidFill>
                <a:latin typeface="Consolas"/>
              </a:rPr>
              <a:t>if similarity(user_question, cached_question) &gt; 0.90:</a:t>
            </a:r>
            <a:br/>
            <a:r>
              <a:rPr>
                <a:latin typeface="Consolas"/>
              </a:rPr>
              <a:t>  return cached_answer</a:t>
            </a:r>
            <a:br/>
            <a:r>
              <a:rPr>
                <a:latin typeface="Consolas"/>
              </a:rPr>
              <a:t>else:</a:t>
            </a:r>
            <a:br/>
            <a:r>
              <a:rPr>
                <a:latin typeface="Consolas"/>
              </a:rPr>
              <a:t>  call_llm()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E5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0040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200" b="1">
                <a:solidFill>
                  <a:srgbClr val="006D77"/>
                </a:solidFill>
                <a:latin typeface="Aptos"/>
              </a:rPr>
              <a:t>TECHNIQUE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004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100" b="1">
                <a:solidFill>
                  <a:srgbClr val="5F6D76"/>
                </a:solidFill>
                <a:latin typeface="Aptos"/>
              </a:rPr>
              <a:t>12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7202A"/>
                </a:solidFill>
                <a:latin typeface="Aptos"/>
              </a:rPr>
              <a:t>Output control: ask for the shortest useful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46520"/>
            <a:ext cx="107899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0">
                <a:solidFill>
                  <a:srgbClr val="5F6D76"/>
                </a:solidFill>
                <a:latin typeface="Aptos"/>
              </a:rPr>
              <a:t>Names to mention: OpenAI, Claude, DeepSeek, support automation systems.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516636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73152" cy="1691640"/>
          </a:xfrm>
          <a:prstGeom prst="rect">
            <a:avLst/>
          </a:prstGeom>
          <a:solidFill>
            <a:srgbClr val="B64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47672"/>
            <a:ext cx="4873752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Loose 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441448"/>
            <a:ext cx="4873752" cy="8869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800" b="0">
                <a:solidFill>
                  <a:srgbClr val="17202A"/>
                </a:solidFill>
                <a:latin typeface="Aptos"/>
              </a:rPr>
              <a:t>"Explain everything about password reset."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783080"/>
            <a:ext cx="516636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73152" cy="1691640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1947672"/>
            <a:ext cx="4873752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Controlled request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2441448"/>
            <a:ext cx="4873752" cy="8869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700" b="0">
                <a:solidFill>
                  <a:srgbClr val="17202A"/>
                </a:solidFill>
                <a:latin typeface="Aptos"/>
              </a:rPr>
              <a:t>"Answer in 4 bullets: cause, next step, warning, contact option."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4069080"/>
          <a:ext cx="10652759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749039"/>
                <a:gridCol w="2880360"/>
              </a:tblGrid>
              <a:tr h="6172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202A"/>
                          </a:solidFill>
                          <a:latin typeface="Aptos"/>
                        </a:rPr>
                        <a:t>Developer controls</a:t>
                      </a:r>
                    </a:p>
                  </a:txBody>
                  <a:tcPr marL="73152" marR="73152" marT="45720" marB="45720">
                    <a:solidFill>
                      <a:srgbClr val="EBE6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202A"/>
                          </a:solidFill>
                          <a:latin typeface="Aptos"/>
                        </a:rPr>
                        <a:t>Use cases</a:t>
                      </a:r>
                    </a:p>
                  </a:txBody>
                  <a:tcPr marL="73152" marR="73152" marT="45720" marB="45720">
                    <a:solidFill>
                      <a:srgbClr val="EBE6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202A"/>
                          </a:solidFill>
                          <a:latin typeface="Aptos"/>
                        </a:rPr>
                        <a:t>Risk</a:t>
                      </a:r>
                    </a:p>
                  </a:txBody>
                  <a:tcPr marL="73152" marR="73152" marT="45720" marB="45720">
                    <a:solidFill>
                      <a:srgbClr val="EBE6D9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2A"/>
                          </a:solidFill>
                          <a:latin typeface="Aptos"/>
                        </a:rPr>
                        <a:t>max_output_tokens, bullets, JSON, templates, quick/detailed modes.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2A"/>
                          </a:solidFill>
                          <a:latin typeface="Aptos"/>
                        </a:rPr>
                        <a:t>Support replies, classifiers, summaries, internal automation.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2A"/>
                          </a:solidFill>
                          <a:latin typeface="Aptos"/>
                        </a:rPr>
                        <a:t>Too-low limits can cut off important detail.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E5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0040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200" b="1">
                <a:solidFill>
                  <a:srgbClr val="006D77"/>
                </a:solidFill>
                <a:latin typeface="Aptos"/>
              </a:rPr>
              <a:t>TECHNIQUE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004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100" b="1">
                <a:solidFill>
                  <a:srgbClr val="5F6D76"/>
                </a:solidFill>
                <a:latin typeface="Aptos"/>
              </a:rPr>
              <a:t>13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7202A"/>
                </a:solidFill>
                <a:latin typeface="Aptos"/>
              </a:rPr>
              <a:t>Batch processing: move non-urgent work to the background.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46520"/>
            <a:ext cx="107899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0">
                <a:solidFill>
                  <a:srgbClr val="5F6D76"/>
                </a:solidFill>
                <a:latin typeface="Aptos"/>
              </a:rPr>
              <a:t>Names to mention: OpenAI Batch API, Claude Message Batches, cron jobs, background queues.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51663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73152" cy="1828800"/>
          </a:xfrm>
          <a:prstGeom prst="rect">
            <a:avLst/>
          </a:prstGeom>
          <a:solidFill>
            <a:srgbClr val="B64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93392"/>
            <a:ext cx="4873752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Bad 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487168"/>
            <a:ext cx="4873752" cy="102412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700" b="0">
                <a:solidFill>
                  <a:srgbClr val="17202A"/>
                </a:solidFill>
                <a:latin typeface="Aptos"/>
              </a:rPr>
              <a:t>User waits while every ticket, summary, or report is processed immediately.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28800"/>
            <a:ext cx="51663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828800"/>
            <a:ext cx="73152" cy="1828800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1993392"/>
            <a:ext cx="4873752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Better fit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2487168"/>
            <a:ext cx="4873752" cy="102412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700" b="0">
                <a:solidFill>
                  <a:srgbClr val="17202A"/>
                </a:solidFill>
                <a:latin typeface="Aptos"/>
              </a:rPr>
              <a:t>Collect, deduplicate, schedule, and process non-urgent LLM jobs later.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434840"/>
            <a:ext cx="10149840" cy="822960"/>
          </a:xfrm>
          <a:prstGeom prst="rect">
            <a:avLst/>
          </a:prstGeom>
          <a:noFill/>
        </p:spPr>
        <p:txBody>
          <a:bodyPr wrap="square" lIns="146304" rIns="45720" tIns="36576" bIns="36576">
            <a:normAutofit/>
          </a:bodyPr>
          <a:lstStyle/>
          <a:p>
            <a:pPr/>
            <a:r>
              <a:rPr sz="1700">
                <a:solidFill>
                  <a:srgbClr val="17202A"/>
                </a:solidFill>
                <a:latin typeface="Aptos"/>
              </a:rPr>
              <a:t>- Good for ticket classification, evaluations, summaries, embeddings, reports.</a:t>
            </a:r>
          </a:p>
          <a:p>
            <a:pPr/>
            <a:r>
              <a:rPr sz="1700">
                <a:solidFill>
                  <a:srgbClr val="17202A"/>
                </a:solidFill>
                <a:latin typeface="Aptos"/>
              </a:rPr>
              <a:t>- Not good for live chat answers where the user is waiting.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E5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0040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200" b="1">
                <a:solidFill>
                  <a:srgbClr val="006D77"/>
                </a:solidFill>
                <a:latin typeface="Aptos"/>
              </a:rPr>
              <a:t>TECHNIQUE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004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100" b="1">
                <a:solidFill>
                  <a:srgbClr val="5F6D76"/>
                </a:solidFill>
                <a:latin typeface="Aptos"/>
              </a:rPr>
              <a:t>14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7202A"/>
                </a:solidFill>
                <a:latin typeface="Aptos"/>
              </a:rPr>
              <a:t>Model routing: do not use the strongest model for every task.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46520"/>
            <a:ext cx="107899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0">
                <a:solidFill>
                  <a:srgbClr val="5F6D76"/>
                </a:solidFill>
                <a:latin typeface="Aptos"/>
              </a:rPr>
              <a:t>Names to mention: LiteLLM, LangChain, OpenAI, Claude, DeepSeek.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248716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73152" cy="1965960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039112"/>
            <a:ext cx="21945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No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532887"/>
            <a:ext cx="2194560" cy="116128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500" b="0">
                <a:solidFill>
                  <a:srgbClr val="17202A"/>
                </a:solidFill>
                <a:latin typeface="Aptos"/>
              </a:rPr>
              <a:t>Greeting, cached FAQ, fixed template.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1874519"/>
            <a:ext cx="248716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2152" y="1874519"/>
            <a:ext cx="73152" cy="1965960"/>
          </a:xfrm>
          <a:prstGeom prst="rect">
            <a:avLst/>
          </a:prstGeom>
          <a:solidFill>
            <a:srgbClr val="C27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6744" y="2039112"/>
            <a:ext cx="21945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Cheap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6744" y="2532887"/>
            <a:ext cx="2194560" cy="116128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500" b="0">
                <a:solidFill>
                  <a:srgbClr val="17202A"/>
                </a:solidFill>
                <a:latin typeface="Aptos"/>
              </a:rPr>
              <a:t>Classification, short summary, simple rewrite.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18504" y="1874519"/>
            <a:ext cx="248716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18504" y="1874519"/>
            <a:ext cx="73152" cy="1965960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2039112"/>
            <a:ext cx="21945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RAG +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532887"/>
            <a:ext cx="2194560" cy="116128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500" b="0">
                <a:solidFill>
                  <a:srgbClr val="17202A"/>
                </a:solidFill>
                <a:latin typeface="Aptos"/>
              </a:rPr>
              <a:t>Document-specific answers.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34856" y="1874519"/>
            <a:ext cx="2487168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34856" y="1874519"/>
            <a:ext cx="73152" cy="1965960"/>
          </a:xfrm>
          <a:prstGeom prst="rect">
            <a:avLst/>
          </a:prstGeom>
          <a:solidFill>
            <a:srgbClr val="355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9448" y="2039112"/>
            <a:ext cx="219456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Strong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9448" y="2532887"/>
            <a:ext cx="2194560" cy="116128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500" b="0">
                <a:solidFill>
                  <a:srgbClr val="17202A"/>
                </a:solidFill>
                <a:latin typeface="Aptos"/>
              </a:rPr>
              <a:t>Complex, risky, multi-step reasoning.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09160"/>
            <a:ext cx="10241280" cy="5029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ctr"/>
            <a:r>
              <a:rPr sz="2400" b="1">
                <a:solidFill>
                  <a:srgbClr val="17202A"/>
                </a:solidFill>
                <a:latin typeface="Aptos"/>
              </a:rPr>
              <a:t>Route by difficulty and risk, not only by cost.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E5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0040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200" b="1">
                <a:solidFill>
                  <a:srgbClr val="006D77"/>
                </a:solidFill>
                <a:latin typeface="Aptos"/>
              </a:rPr>
              <a:t>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004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100" b="1">
                <a:solidFill>
                  <a:srgbClr val="5F6D76"/>
                </a:solidFill>
                <a:latin typeface="Aptos"/>
              </a:rPr>
              <a:t>15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7202A"/>
                </a:solidFill>
                <a:latin typeface="Aptos"/>
              </a:rPr>
              <a:t>Support chatbot before and after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46520"/>
            <a:ext cx="107899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0">
                <a:solidFill>
                  <a:srgbClr val="5F6D76"/>
                </a:solidFill>
                <a:latin typeface="Aptos"/>
              </a:rPr>
              <a:t>The user still gets support, but the app sends less memory and avoids some calls.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45920"/>
            <a:ext cx="5166360" cy="3749039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645920"/>
            <a:ext cx="73152" cy="3749039"/>
          </a:xfrm>
          <a:prstGeom prst="rect">
            <a:avLst/>
          </a:prstGeom>
          <a:solidFill>
            <a:srgbClr val="B646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4873752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267712"/>
            <a:ext cx="4837176" cy="2999232"/>
          </a:xfrm>
          <a:prstGeom prst="rect">
            <a:avLst/>
          </a:prstGeom>
          <a:noFill/>
        </p:spPr>
        <p:txBody>
          <a:bodyPr wrap="square" lIns="146304" rIns="45720" tIns="36576" bIns="36576">
            <a:normAutofit/>
          </a:bodyPr>
          <a:lstStyle/>
          <a:p>
            <a:pPr/>
            <a:r>
              <a:rPr sz="1600">
                <a:solidFill>
                  <a:srgbClr val="17202A"/>
                </a:solidFill>
                <a:latin typeface="Aptos"/>
              </a:rPr>
              <a:t>- Strong LLM for every request</a:t>
            </a:r>
          </a:p>
          <a:p>
            <a:pPr/>
            <a:r>
              <a:rPr sz="1600">
                <a:solidFill>
                  <a:srgbClr val="17202A"/>
                </a:solidFill>
                <a:latin typeface="Aptos"/>
              </a:rPr>
              <a:t>- Full policy PDF sent every time</a:t>
            </a:r>
          </a:p>
          <a:p>
            <a:pPr/>
            <a:r>
              <a:rPr sz="1600">
                <a:solidFill>
                  <a:srgbClr val="17202A"/>
                </a:solidFill>
                <a:latin typeface="Aptos"/>
              </a:rPr>
              <a:t>- Full chat history sent every time</a:t>
            </a:r>
          </a:p>
          <a:p>
            <a:pPr/>
            <a:r>
              <a:rPr sz="1600">
                <a:solidFill>
                  <a:srgbClr val="17202A"/>
                </a:solidFill>
                <a:latin typeface="Aptos"/>
              </a:rPr>
              <a:t>- Long free-form answers</a:t>
            </a:r>
          </a:p>
          <a:p>
            <a:pPr/>
            <a:r>
              <a:rPr sz="1600">
                <a:solidFill>
                  <a:srgbClr val="17202A"/>
                </a:solidFill>
                <a:latin typeface="Aptos"/>
              </a:rPr>
              <a:t>- Repeated FAQs call the LLM again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45920"/>
            <a:ext cx="5166360" cy="3749039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645920"/>
            <a:ext cx="73152" cy="3749039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1810512"/>
            <a:ext cx="4873752" cy="34747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2200" b="1">
                <a:solidFill>
                  <a:srgbClr val="17202A"/>
                </a:solidFill>
                <a:latin typeface="Aptos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7" y="2267712"/>
            <a:ext cx="4837176" cy="2999232"/>
          </a:xfrm>
          <a:prstGeom prst="rect">
            <a:avLst/>
          </a:prstGeom>
          <a:noFill/>
        </p:spPr>
        <p:txBody>
          <a:bodyPr wrap="square" lIns="146304" rIns="45720" tIns="36576" bIns="36576">
            <a:normAutofit/>
          </a:bodyPr>
          <a:lstStyle/>
          <a:p>
            <a:pPr/>
            <a:r>
              <a:rPr sz="1600">
                <a:solidFill>
                  <a:srgbClr val="17202A"/>
                </a:solidFill>
                <a:latin typeface="Aptos"/>
              </a:rPr>
              <a:t>- Pruned prompt</a:t>
            </a:r>
          </a:p>
          <a:p>
            <a:pPr/>
            <a:r>
              <a:rPr sz="1600">
                <a:solidFill>
                  <a:srgbClr val="17202A"/>
                </a:solidFill>
                <a:latin typeface="Aptos"/>
              </a:rPr>
              <a:t>- Summary plus recent turns</a:t>
            </a:r>
          </a:p>
          <a:p>
            <a:pPr/>
            <a:r>
              <a:rPr sz="1600">
                <a:solidFill>
                  <a:srgbClr val="17202A"/>
                </a:solidFill>
                <a:latin typeface="Aptos"/>
              </a:rPr>
              <a:t>- RAG for policy chunks</a:t>
            </a:r>
          </a:p>
          <a:p>
            <a:pPr/>
            <a:r>
              <a:rPr sz="1600">
                <a:solidFill>
                  <a:srgbClr val="17202A"/>
                </a:solidFill>
                <a:latin typeface="Aptos"/>
              </a:rPr>
              <a:t>- Cached FAQ answers</a:t>
            </a:r>
          </a:p>
          <a:p>
            <a:pPr/>
            <a:r>
              <a:rPr sz="1600">
                <a:solidFill>
                  <a:srgbClr val="17202A"/>
                </a:solidFill>
                <a:latin typeface="Aptos"/>
              </a:rPr>
              <a:t>- Short structured replies</a:t>
            </a:r>
          </a:p>
          <a:p>
            <a:pPr/>
            <a:r>
              <a:rPr sz="1600">
                <a:solidFill>
                  <a:srgbClr val="17202A"/>
                </a:solidFill>
                <a:latin typeface="Aptos"/>
              </a:rPr>
              <a:t>- Batch jobs and model routing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E5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0040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200" b="1">
                <a:solidFill>
                  <a:srgbClr val="006D77"/>
                </a:solidFill>
                <a:latin typeface="Aptos"/>
              </a:rPr>
              <a:t>ADVANCED NAMES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004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100" b="1">
                <a:solidFill>
                  <a:srgbClr val="5F6D76"/>
                </a:solidFill>
                <a:latin typeface="Aptos"/>
              </a:rPr>
              <a:t>16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7202A"/>
                </a:solidFill>
                <a:latin typeface="Aptos"/>
              </a:rPr>
              <a:t>Advanced techniques and tools to remember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46520"/>
            <a:ext cx="107899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0">
                <a:solidFill>
                  <a:srgbClr val="5F6D76"/>
                </a:solidFill>
                <a:latin typeface="Aptos"/>
              </a:rPr>
              <a:t>Mention these as examples of real developer tools, not mandatory choices.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600200"/>
          <a:ext cx="1074420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9080"/>
                <a:gridCol w="6675120"/>
              </a:tblGrid>
              <a:tr h="7086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202A"/>
                          </a:solidFill>
                          <a:latin typeface="Aptos"/>
                        </a:rPr>
                        <a:t>Technique</a:t>
                      </a:r>
                    </a:p>
                  </a:txBody>
                  <a:tcPr marL="73152" marR="73152" marT="45720" marB="45720">
                    <a:solidFill>
                      <a:srgbClr val="EBE6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202A"/>
                          </a:solidFill>
                          <a:latin typeface="Aptos"/>
                        </a:rPr>
                        <a:t>Names to mention</a:t>
                      </a:r>
                    </a:p>
                  </a:txBody>
                  <a:tcPr marL="73152" marR="73152" marT="45720" marB="45720">
                    <a:solidFill>
                      <a:srgbClr val="EBE6D9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2A"/>
                          </a:solidFill>
                          <a:latin typeface="Aptos"/>
                        </a:rPr>
                        <a:t>RAG with vector databases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2A"/>
                          </a:solidFill>
                          <a:latin typeface="Aptos"/>
                        </a:rPr>
                        <a:t>Pinecone, Weaviate, Microsoft Azure AI Search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2A"/>
                          </a:solidFill>
                          <a:latin typeface="Aptos"/>
                        </a:rPr>
                        <a:t>Semantic caching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2A"/>
                          </a:solidFill>
                          <a:latin typeface="Aptos"/>
                        </a:rPr>
                        <a:t>Redis, Cloudflare AI Gateway, LangChain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2A"/>
                          </a:solidFill>
                          <a:latin typeface="Aptos"/>
                        </a:rPr>
                        <a:t>LLM routing and fallback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2A"/>
                          </a:solidFill>
                          <a:latin typeface="Aptos"/>
                        </a:rPr>
                        <a:t>LiteLLM, LangChain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2A"/>
                          </a:solidFill>
                          <a:latin typeface="Aptos"/>
                        </a:rPr>
                        <a:t>Batch processing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2A"/>
                          </a:solidFill>
                          <a:latin typeface="Aptos"/>
                        </a:rPr>
                        <a:t>OpenAI Batch API, Claude Message Batches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2A"/>
                          </a:solidFill>
                          <a:latin typeface="Aptos"/>
                        </a:rPr>
                        <a:t>Support automation patterns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7202A"/>
                          </a:solidFill>
                          <a:latin typeface="Aptos"/>
                        </a:rPr>
                        <a:t>Zendesk, Intercom</a:t>
                      </a:r>
                    </a:p>
                  </a:txBody>
                  <a:tcPr marL="73152" marR="73152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80560" cy="6858000"/>
          </a:xfrm>
          <a:prstGeom prst="rect">
            <a:avLst/>
          </a:prstGeom>
          <a:solidFill>
            <a:srgbClr val="E5F1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320040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200" b="1">
                <a:solidFill>
                  <a:srgbClr val="006D77"/>
                </a:solidFill>
                <a:latin typeface="Aptos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0040"/>
            <a:ext cx="8229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r"/>
            <a:r>
              <a:rPr sz="1100" b="1">
                <a:solidFill>
                  <a:srgbClr val="5F6D76"/>
                </a:solidFill>
                <a:latin typeface="Aptos"/>
              </a:rPr>
              <a:t>17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58368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3400" b="1">
                <a:solidFill>
                  <a:srgbClr val="17202A"/>
                </a:solidFill>
                <a:latin typeface="Aptos"/>
              </a:rPr>
              <a:t>Before calling the LLM API, ask: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46520"/>
            <a:ext cx="107899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r>
              <a:rPr sz="1000" b="0">
                <a:solidFill>
                  <a:srgbClr val="5F6D76"/>
                </a:solidFill>
                <a:latin typeface="Aptos"/>
              </a:rPr>
              <a:t>End with the framework, then Q&amp;A.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965960"/>
            <a:ext cx="2167128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29967"/>
            <a:ext cx="2075688" cy="21031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ctr"/>
            <a:r>
              <a:rPr sz="1300" b="1">
                <a:solidFill>
                  <a:srgbClr val="17202A"/>
                </a:solidFill>
                <a:latin typeface="Aptos"/>
              </a:rPr>
              <a:t>Can I remove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35808" y="1965960"/>
            <a:ext cx="2496312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1528" y="2029967"/>
            <a:ext cx="2404872" cy="21031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ctr"/>
            <a:r>
              <a:rPr sz="1300" b="1">
                <a:solidFill>
                  <a:srgbClr val="17202A"/>
                </a:solidFill>
                <a:latin typeface="Aptos"/>
              </a:rPr>
              <a:t>Can I summarize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1965960"/>
            <a:ext cx="3154680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2029967"/>
            <a:ext cx="306324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ctr"/>
            <a:r>
              <a:rPr sz="1300" b="1">
                <a:solidFill>
                  <a:srgbClr val="17202A"/>
                </a:solidFill>
                <a:latin typeface="Aptos"/>
              </a:rPr>
              <a:t>Can I retrieve only part?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965960"/>
            <a:ext cx="3374136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2029967"/>
            <a:ext cx="3282696" cy="21031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ctr"/>
            <a:r>
              <a:rPr sz="1300" b="1">
                <a:solidFill>
                  <a:srgbClr val="17202A"/>
                </a:solidFill>
                <a:latin typeface="Aptos"/>
              </a:rPr>
              <a:t>Can I return cached answer?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496312"/>
            <a:ext cx="2496312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560320"/>
            <a:ext cx="2404872" cy="21031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ctr"/>
            <a:r>
              <a:rPr sz="1300" b="1">
                <a:solidFill>
                  <a:srgbClr val="17202A"/>
                </a:solidFill>
                <a:latin typeface="Aptos"/>
              </a:rPr>
              <a:t>Can I limit output?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64991" y="2496312"/>
            <a:ext cx="2057400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0711" y="2560320"/>
            <a:ext cx="196596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ctr"/>
            <a:r>
              <a:rPr sz="1300" b="1">
                <a:solidFill>
                  <a:srgbClr val="17202A"/>
                </a:solidFill>
                <a:latin typeface="Aptos"/>
              </a:rPr>
              <a:t>Can I batch it?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59552" y="2496312"/>
            <a:ext cx="2057400" cy="347472"/>
          </a:xfrm>
          <a:prstGeom prst="roundRect">
            <a:avLst/>
          </a:prstGeom>
          <a:solidFill>
            <a:srgbClr val="FFFFFF"/>
          </a:solidFill>
          <a:ln>
            <a:solidFill>
              <a:srgbClr val="D9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05272" y="2560320"/>
            <a:ext cx="1965960" cy="210312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ctr"/>
            <a:r>
              <a:rPr sz="1300" b="1">
                <a:solidFill>
                  <a:srgbClr val="17202A"/>
                </a:solidFill>
                <a:latin typeface="Aptos"/>
              </a:rPr>
              <a:t>Can I route it?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572000"/>
            <a:ext cx="10241280" cy="8686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 algn="ctr"/>
            <a:r>
              <a:rPr sz="2700" b="1">
                <a:solidFill>
                  <a:srgbClr val="17202A"/>
                </a:solidFill>
                <a:latin typeface="Aptos"/>
              </a:rPr>
              <a:t>Memory optimization is application design: keep the right information in the cheapest useful place.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