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7B728E-B4B2-4609-B74D-02EB041E83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55234B-1D90-45B3-B0E1-1B64203EE2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3F6177-309F-4F36-B008-ABF8D92AD6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936950-5DBC-4315-9E8F-E3C4F99EEF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389A3E-76ED-4C89-9995-AB899F6A9D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02060D-4176-4917-A965-C595F4ACC4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3BE025-EB74-4F91-A319-54F03D1E77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3D4611-B8D9-4A99-BD67-F0FF6F33D1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8AA428-047F-4BC6-BA68-835B1752D8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FED2CC-4529-49FC-8ACC-B3117D63E5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95ED0F-5FCA-4F49-825D-7F16A3814DB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9A6F6D-F97E-4C33-B213-0B2F1D874E2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FDD77D-D9B4-4FD2-8CC6-B97CF624ABA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DEVELOPER WEBINAR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1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30-40 minutes | Prepared for August 15, 2026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621720" y="1325880"/>
            <a:ext cx="104238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0000"/>
          </a:bodyPr>
          <a:p>
            <a:pPr>
              <a:lnSpc>
                <a:spcPct val="100000"/>
              </a:lnSpc>
              <a:buNone/>
            </a:pPr>
            <a:r>
              <a:rPr b="1" lang="en-US" sz="4200" spc="-1" strike="noStrike">
                <a:solidFill>
                  <a:srgbClr val="17202a"/>
                </a:solidFill>
                <a:latin typeface="Aptos"/>
              </a:rPr>
              <a:t>Developer-Side Memory Optimization for Reducing Token Cost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658440" y="2980800"/>
            <a:ext cx="8960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77000"/>
          </a:bodyPr>
          <a:p>
            <a:pPr>
              <a:lnSpc>
                <a:spcPct val="100000"/>
              </a:lnSpc>
              <a:buNone/>
            </a:pPr>
            <a:r>
              <a:rPr b="0" lang="en-US" sz="2300" spc="-1" strike="noStrike">
                <a:solidFill>
                  <a:srgbClr val="5f6d76"/>
                </a:solidFill>
                <a:latin typeface="Aptos"/>
              </a:rPr>
              <a:t>For API-based chatbots, websites, support systems, and internal tools.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48" name="Rounded Rectangle 8"/>
          <p:cNvSpPr/>
          <p:nvPr/>
        </p:nvSpPr>
        <p:spPr>
          <a:xfrm>
            <a:off x="658440" y="3794760"/>
            <a:ext cx="91404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TextBox 9"/>
          <p:cNvSpPr/>
          <p:nvPr/>
        </p:nvSpPr>
        <p:spPr>
          <a:xfrm>
            <a:off x="704160" y="3858840"/>
            <a:ext cx="8226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7202a"/>
                </a:solidFill>
                <a:latin typeface="Aptos"/>
              </a:rPr>
              <a:t>Prune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0" name="Rounded Rectangle 10"/>
          <p:cNvSpPr/>
          <p:nvPr/>
        </p:nvSpPr>
        <p:spPr>
          <a:xfrm>
            <a:off x="1719000" y="3794760"/>
            <a:ext cx="138960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TextBox 11"/>
          <p:cNvSpPr/>
          <p:nvPr/>
        </p:nvSpPr>
        <p:spPr>
          <a:xfrm>
            <a:off x="1764720" y="3858840"/>
            <a:ext cx="12981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7202a"/>
                </a:solidFill>
                <a:latin typeface="Aptos"/>
              </a:rPr>
              <a:t>Summarize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" name="Rounded Rectangle 12"/>
          <p:cNvSpPr/>
          <p:nvPr/>
        </p:nvSpPr>
        <p:spPr>
          <a:xfrm>
            <a:off x="3255120" y="3794760"/>
            <a:ext cx="127080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TextBox 13"/>
          <p:cNvSpPr/>
          <p:nvPr/>
        </p:nvSpPr>
        <p:spPr>
          <a:xfrm>
            <a:off x="3300840" y="3858840"/>
            <a:ext cx="11793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7202a"/>
                </a:solidFill>
                <a:latin typeface="Aptos"/>
              </a:rPr>
              <a:t>Retrieve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4" name="Rounded Rectangle 14"/>
          <p:cNvSpPr/>
          <p:nvPr/>
        </p:nvSpPr>
        <p:spPr>
          <a:xfrm>
            <a:off x="4672440" y="3794760"/>
            <a:ext cx="186516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TextBox 15"/>
          <p:cNvSpPr/>
          <p:nvPr/>
        </p:nvSpPr>
        <p:spPr>
          <a:xfrm>
            <a:off x="4718160" y="3858840"/>
            <a:ext cx="17737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7202a"/>
                </a:solidFill>
                <a:latin typeface="Aptos"/>
              </a:rPr>
              <a:t>Cache answers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6" name="Rounded Rectangle 16"/>
          <p:cNvSpPr/>
          <p:nvPr/>
        </p:nvSpPr>
        <p:spPr>
          <a:xfrm>
            <a:off x="6684120" y="3794760"/>
            <a:ext cx="198396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TextBox 17"/>
          <p:cNvSpPr/>
          <p:nvPr/>
        </p:nvSpPr>
        <p:spPr>
          <a:xfrm>
            <a:off x="6729840" y="3858840"/>
            <a:ext cx="18925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7202a"/>
                </a:solidFill>
                <a:latin typeface="Aptos"/>
              </a:rPr>
              <a:t>Control output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8" name="Rounded Rectangle 18"/>
          <p:cNvSpPr/>
          <p:nvPr/>
        </p:nvSpPr>
        <p:spPr>
          <a:xfrm>
            <a:off x="8814960" y="3794760"/>
            <a:ext cx="91404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19"/>
          <p:cNvSpPr/>
          <p:nvPr/>
        </p:nvSpPr>
        <p:spPr>
          <a:xfrm>
            <a:off x="8860680" y="3858840"/>
            <a:ext cx="8226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7202a"/>
                </a:solidFill>
                <a:latin typeface="Aptos"/>
              </a:rPr>
              <a:t>Batch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0" name="Rounded Rectangle 20"/>
          <p:cNvSpPr/>
          <p:nvPr/>
        </p:nvSpPr>
        <p:spPr>
          <a:xfrm>
            <a:off x="9875520" y="3794760"/>
            <a:ext cx="91404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TextBox 21"/>
          <p:cNvSpPr/>
          <p:nvPr/>
        </p:nvSpPr>
        <p:spPr>
          <a:xfrm>
            <a:off x="9921240" y="3858840"/>
            <a:ext cx="8226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7202a"/>
                </a:solidFill>
                <a:latin typeface="Aptos"/>
              </a:rPr>
              <a:t>Route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FRAME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5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2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This talk is about what our app controls.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67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Main correction: we optimize our API system, not the provider's backend.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8" name="Rounded Rectangle 7"/>
          <p:cNvSpPr/>
          <p:nvPr/>
        </p:nvSpPr>
        <p:spPr>
          <a:xfrm>
            <a:off x="685800" y="1828800"/>
            <a:ext cx="5166000" cy="347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Rectangle 8"/>
          <p:cNvSpPr/>
          <p:nvPr/>
        </p:nvSpPr>
        <p:spPr>
          <a:xfrm>
            <a:off x="685800" y="1828800"/>
            <a:ext cx="72720" cy="3474360"/>
          </a:xfrm>
          <a:prstGeom prst="rect">
            <a:avLst/>
          </a:prstGeom>
          <a:solidFill>
            <a:srgbClr val="2f7d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TextBox 9"/>
          <p:cNvSpPr/>
          <p:nvPr/>
        </p:nvSpPr>
        <p:spPr>
          <a:xfrm>
            <a:off x="850320" y="199332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Developer-side decisions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887040" y="2450520"/>
            <a:ext cx="4836960" cy="27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rIns="45720" tIns="36720" bIns="3672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7202a"/>
                </a:solidFill>
                <a:latin typeface="Aptos"/>
              </a:rPr>
              <a:t>- What history to send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7202a"/>
                </a:solidFill>
                <a:latin typeface="Aptos"/>
              </a:rPr>
              <a:t>- Which document chunks to send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7202a"/>
                </a:solidFill>
                <a:latin typeface="Aptos"/>
              </a:rPr>
              <a:t>- When to call the LLM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7202a"/>
                </a:solidFill>
                <a:latin typeface="Aptos"/>
              </a:rPr>
              <a:t>- How long the output should be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7202a"/>
                </a:solidFill>
                <a:latin typeface="Aptos"/>
              </a:rPr>
              <a:t>- Which model should handle the task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72" name="Rounded Rectangle 11"/>
          <p:cNvSpPr/>
          <p:nvPr/>
        </p:nvSpPr>
        <p:spPr>
          <a:xfrm>
            <a:off x="6263640" y="1828800"/>
            <a:ext cx="5166000" cy="347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Rectangle 12"/>
          <p:cNvSpPr/>
          <p:nvPr/>
        </p:nvSpPr>
        <p:spPr>
          <a:xfrm>
            <a:off x="6263640" y="1828800"/>
            <a:ext cx="72720" cy="3474360"/>
          </a:xfrm>
          <a:prstGeom prst="rect">
            <a:avLst/>
          </a:prstGeom>
          <a:solidFill>
            <a:srgbClr val="b64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TextBox 13"/>
          <p:cNvSpPr/>
          <p:nvPr/>
        </p:nvSpPr>
        <p:spPr>
          <a:xfrm>
            <a:off x="6428160" y="199332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Not the main focus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5" name="TextBox 14"/>
          <p:cNvSpPr/>
          <p:nvPr/>
        </p:nvSpPr>
        <p:spPr>
          <a:xfrm>
            <a:off x="6464880" y="2450520"/>
            <a:ext cx="4836960" cy="27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rIns="45720" tIns="36720" bIns="3672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7202a"/>
                </a:solidFill>
                <a:latin typeface="Aptos"/>
              </a:rPr>
              <a:t>- Provider internal caching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7202a"/>
                </a:solidFill>
                <a:latin typeface="Aptos"/>
              </a:rPr>
              <a:t>- Provider infrastructure tricks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7202a"/>
                </a:solidFill>
                <a:latin typeface="Aptos"/>
              </a:rPr>
              <a:t>- Exact pricing tables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7202a"/>
                </a:solidFill>
                <a:latin typeface="Aptos"/>
              </a:rPr>
              <a:t>- Hidden model implementation</a:t>
            </a:r>
            <a:endParaRPr b="0" lang="en-U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PROBLEM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3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73000"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Token cost grows when a chatbot keeps sending everything.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Memory is useful, but memory is not free.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" name="Rounded Rectangle 7"/>
          <p:cNvSpPr/>
          <p:nvPr/>
        </p:nvSpPr>
        <p:spPr>
          <a:xfrm>
            <a:off x="685800" y="1874520"/>
            <a:ext cx="340128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Rectangle 8"/>
          <p:cNvSpPr/>
          <p:nvPr/>
        </p:nvSpPr>
        <p:spPr>
          <a:xfrm>
            <a:off x="685800" y="1874520"/>
            <a:ext cx="72720" cy="1919880"/>
          </a:xfrm>
          <a:prstGeom prst="rect">
            <a:avLst/>
          </a:prstGeom>
          <a:solidFill>
            <a:srgbClr val="006d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TextBox 9"/>
          <p:cNvSpPr/>
          <p:nvPr/>
        </p:nvSpPr>
        <p:spPr>
          <a:xfrm>
            <a:off x="850320" y="20390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Input grows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850320" y="2532960"/>
            <a:ext cx="31086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System prompt, chat history, documents, tools, and retrieved data enter every request.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6" name="Rounded Rectangle 11"/>
          <p:cNvSpPr/>
          <p:nvPr/>
        </p:nvSpPr>
        <p:spPr>
          <a:xfrm>
            <a:off x="4407480" y="1874520"/>
            <a:ext cx="340128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Rectangle 12"/>
          <p:cNvSpPr/>
          <p:nvPr/>
        </p:nvSpPr>
        <p:spPr>
          <a:xfrm>
            <a:off x="4407480" y="1874520"/>
            <a:ext cx="72720" cy="1919880"/>
          </a:xfrm>
          <a:prstGeom prst="rect">
            <a:avLst/>
          </a:prstGeom>
          <a:solidFill>
            <a:srgbClr val="c27c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TextBox 13"/>
          <p:cNvSpPr/>
          <p:nvPr/>
        </p:nvSpPr>
        <p:spPr>
          <a:xfrm>
            <a:off x="4572000" y="20390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Output grows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9" name="TextBox 14"/>
          <p:cNvSpPr/>
          <p:nvPr/>
        </p:nvSpPr>
        <p:spPr>
          <a:xfrm>
            <a:off x="4572000" y="2532960"/>
            <a:ext cx="31086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Long answers, explanations, and verbose JSON increase generated tokens.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0" name="Rounded Rectangle 15"/>
          <p:cNvSpPr/>
          <p:nvPr/>
        </p:nvSpPr>
        <p:spPr>
          <a:xfrm>
            <a:off x="8138160" y="1874520"/>
            <a:ext cx="340128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Rectangle 16"/>
          <p:cNvSpPr/>
          <p:nvPr/>
        </p:nvSpPr>
        <p:spPr>
          <a:xfrm>
            <a:off x="8138160" y="1874520"/>
            <a:ext cx="72720" cy="1919880"/>
          </a:xfrm>
          <a:prstGeom prst="rect">
            <a:avLst/>
          </a:prstGeom>
          <a:solidFill>
            <a:srgbClr val="355c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TextBox 17"/>
          <p:cNvSpPr/>
          <p:nvPr/>
        </p:nvSpPr>
        <p:spPr>
          <a:xfrm>
            <a:off x="8302680" y="20390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Calls grow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3" name="TextBox 18"/>
          <p:cNvSpPr/>
          <p:nvPr/>
        </p:nvSpPr>
        <p:spPr>
          <a:xfrm>
            <a:off x="8302680" y="2532960"/>
            <a:ext cx="31086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Repeated FAQs and offline jobs can trigger unnecessary API calls.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4" name="TextBox 19"/>
          <p:cNvSpPr/>
          <p:nvPr/>
        </p:nvSpPr>
        <p:spPr>
          <a:xfrm>
            <a:off x="1143000" y="457200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70000"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7202a"/>
                </a:solidFill>
                <a:latin typeface="Aptos"/>
              </a:rPr>
              <a:t>Cost opportunity = fewer input tokens + fewer output tokens + fewer API calls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BASICS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4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Token cost basics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Optimization controls what goes in, what comes out, and whether the call is needed.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1" name="Rounded Rectangle 7"/>
          <p:cNvSpPr/>
          <p:nvPr/>
        </p:nvSpPr>
        <p:spPr>
          <a:xfrm>
            <a:off x="685800" y="1737360"/>
            <a:ext cx="516600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Rectangle 8"/>
          <p:cNvSpPr/>
          <p:nvPr/>
        </p:nvSpPr>
        <p:spPr>
          <a:xfrm>
            <a:off x="685800" y="1737360"/>
            <a:ext cx="72720" cy="1508400"/>
          </a:xfrm>
          <a:prstGeom prst="rect">
            <a:avLst/>
          </a:prstGeom>
          <a:solidFill>
            <a:srgbClr val="006d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TextBox 9"/>
          <p:cNvSpPr/>
          <p:nvPr/>
        </p:nvSpPr>
        <p:spPr>
          <a:xfrm>
            <a:off x="850320" y="190188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Input tokens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850320" y="2395800"/>
            <a:ext cx="48733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5000"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Instructions, user message, history, documents, tools, examples, and formatting rules.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5" name="Rounded Rectangle 11"/>
          <p:cNvSpPr/>
          <p:nvPr/>
        </p:nvSpPr>
        <p:spPr>
          <a:xfrm>
            <a:off x="6263640" y="1737360"/>
            <a:ext cx="516600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Rectangle 12"/>
          <p:cNvSpPr/>
          <p:nvPr/>
        </p:nvSpPr>
        <p:spPr>
          <a:xfrm>
            <a:off x="6263640" y="1737360"/>
            <a:ext cx="72720" cy="1508400"/>
          </a:xfrm>
          <a:prstGeom prst="rect">
            <a:avLst/>
          </a:prstGeom>
          <a:solidFill>
            <a:srgbClr val="c27c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TextBox 13"/>
          <p:cNvSpPr/>
          <p:nvPr/>
        </p:nvSpPr>
        <p:spPr>
          <a:xfrm>
            <a:off x="6428160" y="190188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Output tokens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8" name="TextBox 14"/>
          <p:cNvSpPr/>
          <p:nvPr/>
        </p:nvSpPr>
        <p:spPr>
          <a:xfrm>
            <a:off x="6428160" y="2395800"/>
            <a:ext cx="48733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Everything generated by the model. Short useful answers reduce cost and latency.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9" name="Rounded Rectangle 15"/>
          <p:cNvSpPr/>
          <p:nvPr/>
        </p:nvSpPr>
        <p:spPr>
          <a:xfrm>
            <a:off x="685800" y="3703320"/>
            <a:ext cx="516600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Rectangle 16"/>
          <p:cNvSpPr/>
          <p:nvPr/>
        </p:nvSpPr>
        <p:spPr>
          <a:xfrm>
            <a:off x="685800" y="3703320"/>
            <a:ext cx="72720" cy="1508400"/>
          </a:xfrm>
          <a:prstGeom prst="rect">
            <a:avLst/>
          </a:prstGeom>
          <a:solidFill>
            <a:srgbClr val="2f7d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1" name="TextBox 17"/>
          <p:cNvSpPr/>
          <p:nvPr/>
        </p:nvSpPr>
        <p:spPr>
          <a:xfrm>
            <a:off x="850320" y="386784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Context window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2" name="TextBox 18"/>
          <p:cNvSpPr/>
          <p:nvPr/>
        </p:nvSpPr>
        <p:spPr>
          <a:xfrm>
            <a:off x="850320" y="4361760"/>
            <a:ext cx="48733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The maximum information a model can consider in one request.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3" name="Rounded Rectangle 19"/>
          <p:cNvSpPr/>
          <p:nvPr/>
        </p:nvSpPr>
        <p:spPr>
          <a:xfrm>
            <a:off x="6263640" y="3703320"/>
            <a:ext cx="516600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4" name="Rectangle 20"/>
          <p:cNvSpPr/>
          <p:nvPr/>
        </p:nvSpPr>
        <p:spPr>
          <a:xfrm>
            <a:off x="6263640" y="3703320"/>
            <a:ext cx="72720" cy="1508400"/>
          </a:xfrm>
          <a:prstGeom prst="rect">
            <a:avLst/>
          </a:prstGeom>
          <a:solidFill>
            <a:srgbClr val="355c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TextBox 21"/>
          <p:cNvSpPr/>
          <p:nvPr/>
        </p:nvSpPr>
        <p:spPr>
          <a:xfrm>
            <a:off x="6428160" y="386784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API call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6" name="TextBox 22"/>
          <p:cNvSpPr/>
          <p:nvPr/>
        </p:nvSpPr>
        <p:spPr>
          <a:xfrm>
            <a:off x="6428160" y="4361760"/>
            <a:ext cx="48733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Every model request can cost money. Avoiding a call can be better than shrinking a prompt.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8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9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MENTAL MODEL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5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Put memory in the cheapest useful place.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22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The model does not know what is important unless our app chooses.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3" name="Rounded Rectangle 7"/>
          <p:cNvSpPr/>
          <p:nvPr/>
        </p:nvSpPr>
        <p:spPr>
          <a:xfrm>
            <a:off x="685800" y="1920240"/>
            <a:ext cx="2486880" cy="201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Rectangle 8"/>
          <p:cNvSpPr/>
          <p:nvPr/>
        </p:nvSpPr>
        <p:spPr>
          <a:xfrm>
            <a:off x="685800" y="1920240"/>
            <a:ext cx="72720" cy="2011320"/>
          </a:xfrm>
          <a:prstGeom prst="rect">
            <a:avLst/>
          </a:prstGeom>
          <a:solidFill>
            <a:srgbClr val="006d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TextBox 9"/>
          <p:cNvSpPr/>
          <p:nvPr/>
        </p:nvSpPr>
        <p:spPr>
          <a:xfrm>
            <a:off x="850320" y="208476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Prompt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850320" y="2578680"/>
            <a:ext cx="21942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17202a"/>
                </a:solidFill>
                <a:latin typeface="Aptos"/>
              </a:rPr>
              <a:t>Only what the model needs right now.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7" name="Rounded Rectangle 11"/>
          <p:cNvSpPr/>
          <p:nvPr/>
        </p:nvSpPr>
        <p:spPr>
          <a:xfrm>
            <a:off x="3502080" y="1920240"/>
            <a:ext cx="2486880" cy="201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Rectangle 12"/>
          <p:cNvSpPr/>
          <p:nvPr/>
        </p:nvSpPr>
        <p:spPr>
          <a:xfrm>
            <a:off x="3502080" y="1920240"/>
            <a:ext cx="72720" cy="2011320"/>
          </a:xfrm>
          <a:prstGeom prst="rect">
            <a:avLst/>
          </a:prstGeom>
          <a:solidFill>
            <a:srgbClr val="c27c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TextBox 13"/>
          <p:cNvSpPr/>
          <p:nvPr/>
        </p:nvSpPr>
        <p:spPr>
          <a:xfrm>
            <a:off x="3666600" y="208476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Summary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30" name="TextBox 14"/>
          <p:cNvSpPr/>
          <p:nvPr/>
        </p:nvSpPr>
        <p:spPr>
          <a:xfrm>
            <a:off x="3666600" y="2578680"/>
            <a:ext cx="21942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17202a"/>
                </a:solidFill>
                <a:latin typeface="Aptos"/>
              </a:rPr>
              <a:t>Compressed old conversation.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31" name="Rounded Rectangle 15"/>
          <p:cNvSpPr/>
          <p:nvPr/>
        </p:nvSpPr>
        <p:spPr>
          <a:xfrm>
            <a:off x="6318360" y="1920240"/>
            <a:ext cx="2486880" cy="201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Rectangle 16"/>
          <p:cNvSpPr/>
          <p:nvPr/>
        </p:nvSpPr>
        <p:spPr>
          <a:xfrm>
            <a:off x="6318360" y="1920240"/>
            <a:ext cx="72720" cy="2011320"/>
          </a:xfrm>
          <a:prstGeom prst="rect">
            <a:avLst/>
          </a:prstGeom>
          <a:solidFill>
            <a:srgbClr val="2f7d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TextBox 17"/>
          <p:cNvSpPr/>
          <p:nvPr/>
        </p:nvSpPr>
        <p:spPr>
          <a:xfrm>
            <a:off x="6483240" y="208476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Documents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34" name="TextBox 18"/>
          <p:cNvSpPr/>
          <p:nvPr/>
        </p:nvSpPr>
        <p:spPr>
          <a:xfrm>
            <a:off x="6483240" y="2578680"/>
            <a:ext cx="21942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17202a"/>
                </a:solidFill>
                <a:latin typeface="Aptos"/>
              </a:rPr>
              <a:t>Stored outside the prompt and retrieved when needed.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35" name="Rounded Rectangle 19"/>
          <p:cNvSpPr/>
          <p:nvPr/>
        </p:nvSpPr>
        <p:spPr>
          <a:xfrm>
            <a:off x="9135000" y="1920240"/>
            <a:ext cx="2486880" cy="201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Rectangle 20"/>
          <p:cNvSpPr/>
          <p:nvPr/>
        </p:nvSpPr>
        <p:spPr>
          <a:xfrm>
            <a:off x="9135000" y="1920240"/>
            <a:ext cx="72720" cy="2011320"/>
          </a:xfrm>
          <a:prstGeom prst="rect">
            <a:avLst/>
          </a:prstGeom>
          <a:solidFill>
            <a:srgbClr val="355c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7" name="TextBox 21"/>
          <p:cNvSpPr/>
          <p:nvPr/>
        </p:nvSpPr>
        <p:spPr>
          <a:xfrm>
            <a:off x="9299520" y="208476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1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Answer cache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38" name="TextBox 22"/>
          <p:cNvSpPr/>
          <p:nvPr/>
        </p:nvSpPr>
        <p:spPr>
          <a:xfrm>
            <a:off x="9299520" y="2578680"/>
            <a:ext cx="21942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17202a"/>
                </a:solidFill>
                <a:latin typeface="Aptos"/>
              </a:rPr>
              <a:t>Saved answers for repeated questions.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39" name="TextBox 23"/>
          <p:cNvSpPr/>
          <p:nvPr/>
        </p:nvSpPr>
        <p:spPr>
          <a:xfrm>
            <a:off x="914400" y="4754880"/>
            <a:ext cx="10332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73000"/>
          </a:bodyPr>
          <a:p>
            <a:pPr algn="ctr">
              <a:lnSpc>
                <a:spcPct val="100000"/>
              </a:lnSpc>
              <a:buNone/>
            </a:pPr>
            <a:r>
              <a:rPr b="1" lang="en-US" sz="2300" spc="-1" strike="noStrike">
                <a:solidFill>
                  <a:srgbClr val="17202a"/>
                </a:solidFill>
                <a:latin typeface="Aptos"/>
              </a:rPr>
              <a:t>The app decides what to remove, compress, retrieve, cache, limit, batch, or route.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2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TECHNIQUE 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6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77000"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Prompt pruning: remove unnecessary prompt text.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45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Names to mention: OpenAI, Claude, DeepSeek, LangChain.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6" name="Rounded Rectangle 7"/>
          <p:cNvSpPr/>
          <p:nvPr/>
        </p:nvSpPr>
        <p:spPr>
          <a:xfrm>
            <a:off x="777240" y="1828800"/>
            <a:ext cx="516600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Rectangle 8"/>
          <p:cNvSpPr/>
          <p:nvPr/>
        </p:nvSpPr>
        <p:spPr>
          <a:xfrm>
            <a:off x="777240" y="1828800"/>
            <a:ext cx="72720" cy="1919880"/>
          </a:xfrm>
          <a:prstGeom prst="rect">
            <a:avLst/>
          </a:prstGeom>
          <a:solidFill>
            <a:srgbClr val="b64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8" name="TextBox 9"/>
          <p:cNvSpPr/>
          <p:nvPr/>
        </p:nvSpPr>
        <p:spPr>
          <a:xfrm>
            <a:off x="941760" y="199332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Before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941760" y="2487240"/>
            <a:ext cx="487332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Be helpful. Be friendly. Be concise. Do not be too long. Use simple language. Give bullet points if possible.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0" name="Rounded Rectangle 11"/>
          <p:cNvSpPr/>
          <p:nvPr/>
        </p:nvSpPr>
        <p:spPr>
          <a:xfrm>
            <a:off x="6263640" y="1828800"/>
            <a:ext cx="516600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1" name="Rectangle 12"/>
          <p:cNvSpPr/>
          <p:nvPr/>
        </p:nvSpPr>
        <p:spPr>
          <a:xfrm>
            <a:off x="6263640" y="1828800"/>
            <a:ext cx="72720" cy="1919880"/>
          </a:xfrm>
          <a:prstGeom prst="rect">
            <a:avLst/>
          </a:prstGeom>
          <a:solidFill>
            <a:srgbClr val="2f7d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TextBox 13"/>
          <p:cNvSpPr/>
          <p:nvPr/>
        </p:nvSpPr>
        <p:spPr>
          <a:xfrm>
            <a:off x="6428160" y="199332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After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53" name="TextBox 14"/>
          <p:cNvSpPr/>
          <p:nvPr/>
        </p:nvSpPr>
        <p:spPr>
          <a:xfrm>
            <a:off x="6428160" y="2487240"/>
            <a:ext cx="487332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17202a"/>
                </a:solidFill>
                <a:latin typeface="Aptos"/>
              </a:rPr>
              <a:t>Answer in simple language using 3 concise bullet points.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154" name="Table 15"/>
          <p:cNvGraphicFramePr/>
          <p:nvPr/>
        </p:nvGraphicFramePr>
        <p:xfrm>
          <a:off x="777240" y="4343400"/>
          <a:ext cx="10652400" cy="1096920"/>
        </p:xfrm>
        <a:graphic>
          <a:graphicData uri="http://schemas.openxmlformats.org/drawingml/2006/table">
            <a:tbl>
              <a:tblPr/>
              <a:tblGrid>
                <a:gridCol w="3474720"/>
                <a:gridCol w="4206240"/>
                <a:gridCol w="2971800"/>
              </a:tblGrid>
              <a:tr h="54864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Manual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be6d9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Automatic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be6d9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Risk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be6d9"/>
                    </a:solidFill>
                  </a:tcPr>
                </a:tc>
              </a:tr>
              <a:tr h="54864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Remove repeated rules, unused examples, vague wording.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Trim old messages by token limit, last N messages, or relevance.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Removing important context can hurt quality.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TECHNIQUE 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7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9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77000"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Conversation summary: compress old chat history.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60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Names to mention: LangChain, OpenAI, Claude, DeepSeek.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1" name="Rounded Rectangle 7"/>
          <p:cNvSpPr/>
          <p:nvPr/>
        </p:nvSpPr>
        <p:spPr>
          <a:xfrm>
            <a:off x="777240" y="1783080"/>
            <a:ext cx="516600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Rectangle 8"/>
          <p:cNvSpPr/>
          <p:nvPr/>
        </p:nvSpPr>
        <p:spPr>
          <a:xfrm>
            <a:off x="777240" y="1783080"/>
            <a:ext cx="72720" cy="1599840"/>
          </a:xfrm>
          <a:prstGeom prst="rect">
            <a:avLst/>
          </a:prstGeom>
          <a:solidFill>
            <a:srgbClr val="b64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TextBox 9"/>
          <p:cNvSpPr/>
          <p:nvPr/>
        </p:nvSpPr>
        <p:spPr>
          <a:xfrm>
            <a:off x="941760" y="194760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Before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941760" y="2441520"/>
            <a:ext cx="487332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7202a"/>
                </a:solidFill>
                <a:latin typeface="Aptos"/>
              </a:rPr>
              <a:t>Send all 40 previous messages every time the user asks a new question.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65" name="Rounded Rectangle 11"/>
          <p:cNvSpPr/>
          <p:nvPr/>
        </p:nvSpPr>
        <p:spPr>
          <a:xfrm>
            <a:off x="6263640" y="1783080"/>
            <a:ext cx="516600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Rectangle 12"/>
          <p:cNvSpPr/>
          <p:nvPr/>
        </p:nvSpPr>
        <p:spPr>
          <a:xfrm>
            <a:off x="6263640" y="1783080"/>
            <a:ext cx="72720" cy="1599840"/>
          </a:xfrm>
          <a:prstGeom prst="rect">
            <a:avLst/>
          </a:prstGeom>
          <a:solidFill>
            <a:srgbClr val="2f7d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TextBox 13"/>
          <p:cNvSpPr/>
          <p:nvPr/>
        </p:nvSpPr>
        <p:spPr>
          <a:xfrm>
            <a:off x="6428160" y="194760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After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8" name="TextBox 14"/>
          <p:cNvSpPr/>
          <p:nvPr/>
        </p:nvSpPr>
        <p:spPr>
          <a:xfrm>
            <a:off x="6428160" y="2441520"/>
            <a:ext cx="487332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7202a"/>
                </a:solidFill>
                <a:latin typeface="Aptos"/>
              </a:rPr>
              <a:t>Send a short summary, important facts, and only the last 4-6 turns.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69" name="Rounded Rectangle 15"/>
          <p:cNvSpPr/>
          <p:nvPr/>
        </p:nvSpPr>
        <p:spPr>
          <a:xfrm>
            <a:off x="1325880" y="3977640"/>
            <a:ext cx="9509400" cy="1325520"/>
          </a:xfrm>
          <a:prstGeom prst="roundRect">
            <a:avLst>
              <a:gd name="adj" fmla="val 16667"/>
            </a:avLst>
          </a:prstGeom>
          <a:solidFill>
            <a:srgbClr val="17202a"/>
          </a:solidFill>
          <a:ln>
            <a:solidFill>
              <a:srgbClr val="17202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TextBox 16"/>
          <p:cNvSpPr/>
          <p:nvPr/>
        </p:nvSpPr>
        <p:spPr>
          <a:xfrm>
            <a:off x="1490400" y="4105800"/>
            <a:ext cx="9198360" cy="11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7f5ee"/>
                </a:solidFill>
                <a:latin typeface="Consolas"/>
              </a:rPr>
              <a:t>Summary: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User wants refund for order #123.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Reset email did not arrive.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User prefers short step-by-step instructions.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2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TECHNIQUE 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4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8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5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63000"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Retrieval/RAG: send relevant document chunks, not the whole library.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76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Names to mention: Pinecone, Weaviate, Microsoft Azure AI Search, OpenAI vector stores.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77" name="Rounded Rectangle 7"/>
          <p:cNvSpPr/>
          <p:nvPr/>
        </p:nvSpPr>
        <p:spPr>
          <a:xfrm>
            <a:off x="685800" y="1874520"/>
            <a:ext cx="24868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8" name="Rectangle 8"/>
          <p:cNvSpPr/>
          <p:nvPr/>
        </p:nvSpPr>
        <p:spPr>
          <a:xfrm>
            <a:off x="685800" y="1874520"/>
            <a:ext cx="72720" cy="1965600"/>
          </a:xfrm>
          <a:prstGeom prst="rect">
            <a:avLst/>
          </a:prstGeom>
          <a:solidFill>
            <a:srgbClr val="006d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TextBox 9"/>
          <p:cNvSpPr/>
          <p:nvPr/>
        </p:nvSpPr>
        <p:spPr>
          <a:xfrm>
            <a:off x="850320" y="203904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Store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80" name="TextBox 10"/>
          <p:cNvSpPr/>
          <p:nvPr/>
        </p:nvSpPr>
        <p:spPr>
          <a:xfrm>
            <a:off x="850320" y="2532960"/>
            <a:ext cx="219420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17202a"/>
                </a:solidFill>
                <a:latin typeface="Aptos"/>
              </a:rPr>
              <a:t>PDF, docs, FAQ, policy files.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1" name="Rounded Rectangle 11"/>
          <p:cNvSpPr/>
          <p:nvPr/>
        </p:nvSpPr>
        <p:spPr>
          <a:xfrm>
            <a:off x="3502080" y="1874520"/>
            <a:ext cx="24868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2" name="Rectangle 12"/>
          <p:cNvSpPr/>
          <p:nvPr/>
        </p:nvSpPr>
        <p:spPr>
          <a:xfrm>
            <a:off x="3502080" y="1874520"/>
            <a:ext cx="72720" cy="1965600"/>
          </a:xfrm>
          <a:prstGeom prst="rect">
            <a:avLst/>
          </a:prstGeom>
          <a:solidFill>
            <a:srgbClr val="c27c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TextBox 13"/>
          <p:cNvSpPr/>
          <p:nvPr/>
        </p:nvSpPr>
        <p:spPr>
          <a:xfrm>
            <a:off x="3666600" y="203904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Search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84" name="TextBox 14"/>
          <p:cNvSpPr/>
          <p:nvPr/>
        </p:nvSpPr>
        <p:spPr>
          <a:xfrm>
            <a:off x="3666600" y="2532960"/>
            <a:ext cx="219420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17202a"/>
                </a:solidFill>
                <a:latin typeface="Aptos"/>
              </a:rPr>
              <a:t>Find chunks matching the question.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5" name="Rounded Rectangle 15"/>
          <p:cNvSpPr/>
          <p:nvPr/>
        </p:nvSpPr>
        <p:spPr>
          <a:xfrm>
            <a:off x="6318360" y="1874520"/>
            <a:ext cx="24868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Rectangle 16"/>
          <p:cNvSpPr/>
          <p:nvPr/>
        </p:nvSpPr>
        <p:spPr>
          <a:xfrm>
            <a:off x="6318360" y="1874520"/>
            <a:ext cx="72720" cy="1965600"/>
          </a:xfrm>
          <a:prstGeom prst="rect">
            <a:avLst/>
          </a:prstGeom>
          <a:solidFill>
            <a:srgbClr val="2f7d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TextBox 17"/>
          <p:cNvSpPr/>
          <p:nvPr/>
        </p:nvSpPr>
        <p:spPr>
          <a:xfrm>
            <a:off x="6483240" y="203904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Send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88" name="TextBox 18"/>
          <p:cNvSpPr/>
          <p:nvPr/>
        </p:nvSpPr>
        <p:spPr>
          <a:xfrm>
            <a:off x="6483240" y="2532960"/>
            <a:ext cx="219420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17202a"/>
                </a:solidFill>
                <a:latin typeface="Aptos"/>
              </a:rPr>
              <a:t>Only top relevant chunks enter the prompt.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9" name="Rounded Rectangle 19"/>
          <p:cNvSpPr/>
          <p:nvPr/>
        </p:nvSpPr>
        <p:spPr>
          <a:xfrm>
            <a:off x="9135000" y="1874520"/>
            <a:ext cx="24868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0" name="Rectangle 20"/>
          <p:cNvSpPr/>
          <p:nvPr/>
        </p:nvSpPr>
        <p:spPr>
          <a:xfrm>
            <a:off x="9135000" y="1874520"/>
            <a:ext cx="72720" cy="1965600"/>
          </a:xfrm>
          <a:prstGeom prst="rect">
            <a:avLst/>
          </a:prstGeom>
          <a:solidFill>
            <a:srgbClr val="355c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1" name="TextBox 21"/>
          <p:cNvSpPr/>
          <p:nvPr/>
        </p:nvSpPr>
        <p:spPr>
          <a:xfrm>
            <a:off x="9299520" y="203904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Answer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92" name="TextBox 22"/>
          <p:cNvSpPr/>
          <p:nvPr/>
        </p:nvSpPr>
        <p:spPr>
          <a:xfrm>
            <a:off x="9299520" y="2532960"/>
            <a:ext cx="219420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17202a"/>
                </a:solidFill>
                <a:latin typeface="Aptos"/>
              </a:rPr>
              <a:t>LLM writes using focused context.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93" name="TextBox 23"/>
          <p:cNvSpPr/>
          <p:nvPr/>
        </p:nvSpPr>
        <p:spPr>
          <a:xfrm>
            <a:off x="914400" y="4663440"/>
            <a:ext cx="10423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7000"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RAG still uses the LLM. It saves input tokens by making the LLM read only the useful part.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5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6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RAG CLARIFICATION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7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9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8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File upload vs custom RAG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99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RAG saves tokens only if retrieval finds the right chunks.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0" name="Rounded Rectangle 7"/>
          <p:cNvSpPr/>
          <p:nvPr/>
        </p:nvSpPr>
        <p:spPr>
          <a:xfrm>
            <a:off x="777240" y="1783080"/>
            <a:ext cx="516600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1" name="Rectangle 8"/>
          <p:cNvSpPr/>
          <p:nvPr/>
        </p:nvSpPr>
        <p:spPr>
          <a:xfrm>
            <a:off x="777240" y="1783080"/>
            <a:ext cx="72720" cy="1828440"/>
          </a:xfrm>
          <a:prstGeom prst="rect">
            <a:avLst/>
          </a:prstGeom>
          <a:solidFill>
            <a:srgbClr val="c27c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2" name="TextBox 9"/>
          <p:cNvSpPr/>
          <p:nvPr/>
        </p:nvSpPr>
        <p:spPr>
          <a:xfrm>
            <a:off x="941760" y="194760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Traditional upload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03" name="TextBox 10"/>
          <p:cNvSpPr/>
          <p:nvPr/>
        </p:nvSpPr>
        <p:spPr>
          <a:xfrm>
            <a:off x="941760" y="2441520"/>
            <a:ext cx="487332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A platform may handle document reading internally. Developers usually do not control chunk size, ranking, or exact context.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04" name="Rounded Rectangle 11"/>
          <p:cNvSpPr/>
          <p:nvPr/>
        </p:nvSpPr>
        <p:spPr>
          <a:xfrm>
            <a:off x="6263640" y="1783080"/>
            <a:ext cx="516600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5" name="Rectangle 12"/>
          <p:cNvSpPr/>
          <p:nvPr/>
        </p:nvSpPr>
        <p:spPr>
          <a:xfrm>
            <a:off x="6263640" y="1783080"/>
            <a:ext cx="72720" cy="1828440"/>
          </a:xfrm>
          <a:prstGeom prst="rect">
            <a:avLst/>
          </a:prstGeom>
          <a:solidFill>
            <a:srgbClr val="2f7d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6" name="TextBox 13"/>
          <p:cNvSpPr/>
          <p:nvPr/>
        </p:nvSpPr>
        <p:spPr>
          <a:xfrm>
            <a:off x="6428160" y="194760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Custom RAG chatbot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07" name="TextBox 14"/>
          <p:cNvSpPr/>
          <p:nvPr/>
        </p:nvSpPr>
        <p:spPr>
          <a:xfrm>
            <a:off x="6428160" y="2441520"/>
            <a:ext cx="487332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Your app stores docs, searches them, selects chunks, and sends only relevant context to the LLM API.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08" name="Rounded Rectangle 15"/>
          <p:cNvSpPr/>
          <p:nvPr/>
        </p:nvSpPr>
        <p:spPr>
          <a:xfrm>
            <a:off x="868680" y="4251960"/>
            <a:ext cx="10423800" cy="959760"/>
          </a:xfrm>
          <a:prstGeom prst="roundRect">
            <a:avLst>
              <a:gd name="adj" fmla="val 16667"/>
            </a:avLst>
          </a:prstGeom>
          <a:solidFill>
            <a:srgbClr val="17202a"/>
          </a:solidFill>
          <a:ln>
            <a:solidFill>
              <a:srgbClr val="17202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9" name="TextBox 16"/>
          <p:cNvSpPr/>
          <p:nvPr/>
        </p:nvSpPr>
        <p:spPr>
          <a:xfrm>
            <a:off x="1033200" y="4380120"/>
            <a:ext cx="1011276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nsolas"/>
              </a:rPr>
              <a:t>Without RAG: full_document_tokens + question_tokens + answer_tokens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With RAG: search_cost + relevant_chunk_tokens + question_tokens + answer_tokens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1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2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TECHNIQUE 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3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10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14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68000"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Response caching: skip the LLM when an answer already exists.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15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Names to mention: Redis, Cloudflare AI Gateway, LangChain, vector databases.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16" name="Rounded Rectangle 7"/>
          <p:cNvSpPr/>
          <p:nvPr/>
        </p:nvSpPr>
        <p:spPr>
          <a:xfrm>
            <a:off x="777240" y="1828800"/>
            <a:ext cx="516600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Rectangle 8"/>
          <p:cNvSpPr/>
          <p:nvPr/>
        </p:nvSpPr>
        <p:spPr>
          <a:xfrm>
            <a:off x="777240" y="1828800"/>
            <a:ext cx="72720" cy="1828440"/>
          </a:xfrm>
          <a:prstGeom prst="rect">
            <a:avLst/>
          </a:prstGeom>
          <a:solidFill>
            <a:srgbClr val="b64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8" name="TextBox 9"/>
          <p:cNvSpPr/>
          <p:nvPr/>
        </p:nvSpPr>
        <p:spPr>
          <a:xfrm>
            <a:off x="941760" y="199332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Without cache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19" name="TextBox 10"/>
          <p:cNvSpPr/>
          <p:nvPr/>
        </p:nvSpPr>
        <p:spPr>
          <a:xfrm>
            <a:off x="941760" y="2487240"/>
            <a:ext cx="487332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Same FAQ question -&gt; call LLM -&gt; pay input tokens + output tokens every time.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20" name="Rounded Rectangle 11"/>
          <p:cNvSpPr/>
          <p:nvPr/>
        </p:nvSpPr>
        <p:spPr>
          <a:xfrm>
            <a:off x="6263640" y="1828800"/>
            <a:ext cx="516600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Rectangle 12"/>
          <p:cNvSpPr/>
          <p:nvPr/>
        </p:nvSpPr>
        <p:spPr>
          <a:xfrm>
            <a:off x="6263640" y="1828800"/>
            <a:ext cx="72720" cy="1828440"/>
          </a:xfrm>
          <a:prstGeom prst="rect">
            <a:avLst/>
          </a:prstGeom>
          <a:solidFill>
            <a:srgbClr val="2f7d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2" name="TextBox 13"/>
          <p:cNvSpPr/>
          <p:nvPr/>
        </p:nvSpPr>
        <p:spPr>
          <a:xfrm>
            <a:off x="6428160" y="199332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With cache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3" name="TextBox 14"/>
          <p:cNvSpPr/>
          <p:nvPr/>
        </p:nvSpPr>
        <p:spPr>
          <a:xfrm>
            <a:off x="6428160" y="2487240"/>
            <a:ext cx="487332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Same or similar FAQ question -&gt; return saved answer -&gt; no LLM token cost.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24" name="TextBox 15"/>
          <p:cNvSpPr/>
          <p:nvPr/>
        </p:nvSpPr>
        <p:spPr>
          <a:xfrm>
            <a:off x="914400" y="4572000"/>
            <a:ext cx="10332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69000"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Best for stable, repeatable questions: refund policy, pricing, password reset, admission rules.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7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CACHING TYPES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8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11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9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Three practical cache types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30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Warning: avoid blind caching for private, sensitive, or fast-changing answers.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1" name="Rounded Rectangle 7"/>
          <p:cNvSpPr/>
          <p:nvPr/>
        </p:nvSpPr>
        <p:spPr>
          <a:xfrm>
            <a:off x="685800" y="1828800"/>
            <a:ext cx="3401280" cy="169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2" name="Rectangle 8"/>
          <p:cNvSpPr/>
          <p:nvPr/>
        </p:nvSpPr>
        <p:spPr>
          <a:xfrm>
            <a:off x="685800" y="1828800"/>
            <a:ext cx="72720" cy="1691280"/>
          </a:xfrm>
          <a:prstGeom prst="rect">
            <a:avLst/>
          </a:prstGeom>
          <a:solidFill>
            <a:srgbClr val="006d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TextBox 9"/>
          <p:cNvSpPr/>
          <p:nvPr/>
        </p:nvSpPr>
        <p:spPr>
          <a:xfrm>
            <a:off x="850320" y="199332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Exact cache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4" name="TextBox 10"/>
          <p:cNvSpPr/>
          <p:nvPr/>
        </p:nvSpPr>
        <p:spPr>
          <a:xfrm>
            <a:off x="850320" y="2487240"/>
            <a:ext cx="310860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Same question text returns the same stored answer.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5" name="Rounded Rectangle 11"/>
          <p:cNvSpPr/>
          <p:nvPr/>
        </p:nvSpPr>
        <p:spPr>
          <a:xfrm>
            <a:off x="4407480" y="1828800"/>
            <a:ext cx="3401280" cy="169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6" name="Rectangle 12"/>
          <p:cNvSpPr/>
          <p:nvPr/>
        </p:nvSpPr>
        <p:spPr>
          <a:xfrm>
            <a:off x="4407480" y="1828800"/>
            <a:ext cx="72720" cy="1691280"/>
          </a:xfrm>
          <a:prstGeom prst="rect">
            <a:avLst/>
          </a:prstGeom>
          <a:solidFill>
            <a:srgbClr val="2f7d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7" name="TextBox 13"/>
          <p:cNvSpPr/>
          <p:nvPr/>
        </p:nvSpPr>
        <p:spPr>
          <a:xfrm>
            <a:off x="4572000" y="199332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FAQ cache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8" name="TextBox 14"/>
          <p:cNvSpPr/>
          <p:nvPr/>
        </p:nvSpPr>
        <p:spPr>
          <a:xfrm>
            <a:off x="4572000" y="2487240"/>
            <a:ext cx="310860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Approved answers for common support questions.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9" name="Rounded Rectangle 15"/>
          <p:cNvSpPr/>
          <p:nvPr/>
        </p:nvSpPr>
        <p:spPr>
          <a:xfrm>
            <a:off x="8138160" y="1828800"/>
            <a:ext cx="3401280" cy="169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0" name="Rectangle 16"/>
          <p:cNvSpPr/>
          <p:nvPr/>
        </p:nvSpPr>
        <p:spPr>
          <a:xfrm>
            <a:off x="8138160" y="1828800"/>
            <a:ext cx="72720" cy="1691280"/>
          </a:xfrm>
          <a:prstGeom prst="rect">
            <a:avLst/>
          </a:prstGeom>
          <a:solidFill>
            <a:srgbClr val="6841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1" name="TextBox 17"/>
          <p:cNvSpPr/>
          <p:nvPr/>
        </p:nvSpPr>
        <p:spPr>
          <a:xfrm>
            <a:off x="8302680" y="199332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Semantic cache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2" name="TextBox 18"/>
          <p:cNvSpPr/>
          <p:nvPr/>
        </p:nvSpPr>
        <p:spPr>
          <a:xfrm>
            <a:off x="8302680" y="2487240"/>
            <a:ext cx="310860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Similar meaning returns a stored answer if similarity is high enough.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43" name="Rounded Rectangle 19"/>
          <p:cNvSpPr/>
          <p:nvPr/>
        </p:nvSpPr>
        <p:spPr>
          <a:xfrm>
            <a:off x="1920240" y="4206240"/>
            <a:ext cx="8229240" cy="1142640"/>
          </a:xfrm>
          <a:prstGeom prst="roundRect">
            <a:avLst>
              <a:gd name="adj" fmla="val 16667"/>
            </a:avLst>
          </a:prstGeom>
          <a:solidFill>
            <a:srgbClr val="17202a"/>
          </a:solidFill>
          <a:ln>
            <a:solidFill>
              <a:srgbClr val="17202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4" name="TextBox 20"/>
          <p:cNvSpPr/>
          <p:nvPr/>
        </p:nvSpPr>
        <p:spPr>
          <a:xfrm>
            <a:off x="2084760" y="4334400"/>
            <a:ext cx="791820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3000"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if similarity(user_question, cached_question) &gt; 0.90: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  return cached_answer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else: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  call_llm()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6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7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TECHNIQUE 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8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12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9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77000"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Output control: ask for the shortest useful answer.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50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Names to mention: OpenAI, Claude, DeepSeek, support automation systems.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51" name="Rounded Rectangle 7"/>
          <p:cNvSpPr/>
          <p:nvPr/>
        </p:nvSpPr>
        <p:spPr>
          <a:xfrm>
            <a:off x="777240" y="1783080"/>
            <a:ext cx="5166000" cy="169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2" name="Rectangle 8"/>
          <p:cNvSpPr/>
          <p:nvPr/>
        </p:nvSpPr>
        <p:spPr>
          <a:xfrm>
            <a:off x="777240" y="1783080"/>
            <a:ext cx="72720" cy="1691280"/>
          </a:xfrm>
          <a:prstGeom prst="rect">
            <a:avLst/>
          </a:prstGeom>
          <a:solidFill>
            <a:srgbClr val="b64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TextBox 9"/>
          <p:cNvSpPr/>
          <p:nvPr/>
        </p:nvSpPr>
        <p:spPr>
          <a:xfrm>
            <a:off x="941760" y="194760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Loose request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4" name="TextBox 10"/>
          <p:cNvSpPr/>
          <p:nvPr/>
        </p:nvSpPr>
        <p:spPr>
          <a:xfrm>
            <a:off x="941760" y="2441520"/>
            <a:ext cx="487332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17202a"/>
                </a:solidFill>
                <a:latin typeface="Aptos"/>
              </a:rPr>
              <a:t>"Explain everything about password reset."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5" name="Rounded Rectangle 11"/>
          <p:cNvSpPr/>
          <p:nvPr/>
        </p:nvSpPr>
        <p:spPr>
          <a:xfrm>
            <a:off x="6263640" y="1783080"/>
            <a:ext cx="5166000" cy="169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6" name="Rectangle 12"/>
          <p:cNvSpPr/>
          <p:nvPr/>
        </p:nvSpPr>
        <p:spPr>
          <a:xfrm>
            <a:off x="6263640" y="1783080"/>
            <a:ext cx="72720" cy="1691280"/>
          </a:xfrm>
          <a:prstGeom prst="rect">
            <a:avLst/>
          </a:prstGeom>
          <a:solidFill>
            <a:srgbClr val="2f7d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7" name="TextBox 13"/>
          <p:cNvSpPr/>
          <p:nvPr/>
        </p:nvSpPr>
        <p:spPr>
          <a:xfrm>
            <a:off x="6428160" y="194760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Controlled request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8" name="TextBox 14"/>
          <p:cNvSpPr/>
          <p:nvPr/>
        </p:nvSpPr>
        <p:spPr>
          <a:xfrm>
            <a:off x="6428160" y="2441520"/>
            <a:ext cx="487332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7202a"/>
                </a:solidFill>
                <a:latin typeface="Aptos"/>
              </a:rPr>
              <a:t>"Answer in 4 bullets: cause, next step, warning, contact option."</a:t>
            </a:r>
            <a:endParaRPr b="0" lang="en-US" sz="1700" spc="-1" strike="noStrike">
              <a:latin typeface="Arial"/>
            </a:endParaRPr>
          </a:p>
        </p:txBody>
      </p:sp>
      <p:graphicFrame>
        <p:nvGraphicFramePr>
          <p:cNvPr id="259" name="Table 15"/>
          <p:cNvGraphicFramePr/>
          <p:nvPr/>
        </p:nvGraphicFramePr>
        <p:xfrm>
          <a:off x="777240" y="4069080"/>
          <a:ext cx="10652400" cy="1234080"/>
        </p:xfrm>
        <a:graphic>
          <a:graphicData uri="http://schemas.openxmlformats.org/drawingml/2006/table">
            <a:tbl>
              <a:tblPr/>
              <a:tblGrid>
                <a:gridCol w="4023360"/>
                <a:gridCol w="3748680"/>
                <a:gridCol w="2880360"/>
              </a:tblGrid>
              <a:tr h="61704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Developer controls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be6d9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Use cases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be6d9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Risk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be6d9"/>
                    </a:solidFill>
                  </a:tcPr>
                </a:tc>
              </a:tr>
              <a:tr h="61704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max_output_tokens, bullets, JSON, templates, quick/detailed modes.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Support replies, classifiers, summaries, internal automation.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Too-low limits can cut off important detail.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1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2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TECHNIQUE 6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3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14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4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68000"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Model routing: do not use the strongest model for every task.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65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Names to mention: LiteLLM, LangChain, OpenAI, Claude, DeepSeek.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66" name="Rounded Rectangle 7"/>
          <p:cNvSpPr/>
          <p:nvPr/>
        </p:nvSpPr>
        <p:spPr>
          <a:xfrm>
            <a:off x="685800" y="1874520"/>
            <a:ext cx="24868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7" name="Rectangle 8"/>
          <p:cNvSpPr/>
          <p:nvPr/>
        </p:nvSpPr>
        <p:spPr>
          <a:xfrm>
            <a:off x="685800" y="1874520"/>
            <a:ext cx="72720" cy="1965600"/>
          </a:xfrm>
          <a:prstGeom prst="rect">
            <a:avLst/>
          </a:prstGeom>
          <a:solidFill>
            <a:srgbClr val="006d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8" name="TextBox 9"/>
          <p:cNvSpPr/>
          <p:nvPr/>
        </p:nvSpPr>
        <p:spPr>
          <a:xfrm>
            <a:off x="850320" y="203904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No model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69" name="TextBox 10"/>
          <p:cNvSpPr/>
          <p:nvPr/>
        </p:nvSpPr>
        <p:spPr>
          <a:xfrm>
            <a:off x="850320" y="2532960"/>
            <a:ext cx="219420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17202a"/>
                </a:solidFill>
                <a:latin typeface="Aptos"/>
              </a:rPr>
              <a:t>Greeting, cached FAQ, fixed template.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70" name="Rounded Rectangle 11"/>
          <p:cNvSpPr/>
          <p:nvPr/>
        </p:nvSpPr>
        <p:spPr>
          <a:xfrm>
            <a:off x="3502080" y="1874520"/>
            <a:ext cx="24868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1" name="Rectangle 12"/>
          <p:cNvSpPr/>
          <p:nvPr/>
        </p:nvSpPr>
        <p:spPr>
          <a:xfrm>
            <a:off x="3502080" y="1874520"/>
            <a:ext cx="72720" cy="1965600"/>
          </a:xfrm>
          <a:prstGeom prst="rect">
            <a:avLst/>
          </a:prstGeom>
          <a:solidFill>
            <a:srgbClr val="c27c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2" name="TextBox 13"/>
          <p:cNvSpPr/>
          <p:nvPr/>
        </p:nvSpPr>
        <p:spPr>
          <a:xfrm>
            <a:off x="3666600" y="203904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Cheap model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73" name="TextBox 14"/>
          <p:cNvSpPr/>
          <p:nvPr/>
        </p:nvSpPr>
        <p:spPr>
          <a:xfrm>
            <a:off x="3666600" y="2532960"/>
            <a:ext cx="219420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17202a"/>
                </a:solidFill>
                <a:latin typeface="Aptos"/>
              </a:rPr>
              <a:t>Classification, short summary, simple rewrite.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74" name="Rounded Rectangle 15"/>
          <p:cNvSpPr/>
          <p:nvPr/>
        </p:nvSpPr>
        <p:spPr>
          <a:xfrm>
            <a:off x="6318360" y="1874520"/>
            <a:ext cx="24868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5" name="Rectangle 16"/>
          <p:cNvSpPr/>
          <p:nvPr/>
        </p:nvSpPr>
        <p:spPr>
          <a:xfrm>
            <a:off x="6318360" y="1874520"/>
            <a:ext cx="72720" cy="1965600"/>
          </a:xfrm>
          <a:prstGeom prst="rect">
            <a:avLst/>
          </a:prstGeom>
          <a:solidFill>
            <a:srgbClr val="2f7d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6" name="TextBox 17"/>
          <p:cNvSpPr/>
          <p:nvPr/>
        </p:nvSpPr>
        <p:spPr>
          <a:xfrm>
            <a:off x="6483240" y="203904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RAG + model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77" name="TextBox 18"/>
          <p:cNvSpPr/>
          <p:nvPr/>
        </p:nvSpPr>
        <p:spPr>
          <a:xfrm>
            <a:off x="6483240" y="2532960"/>
            <a:ext cx="219420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17202a"/>
                </a:solidFill>
                <a:latin typeface="Aptos"/>
              </a:rPr>
              <a:t>Document-specific answers.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78" name="Rounded Rectangle 19"/>
          <p:cNvSpPr/>
          <p:nvPr/>
        </p:nvSpPr>
        <p:spPr>
          <a:xfrm>
            <a:off x="9135000" y="1874520"/>
            <a:ext cx="24868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9" name="Rectangle 20"/>
          <p:cNvSpPr/>
          <p:nvPr/>
        </p:nvSpPr>
        <p:spPr>
          <a:xfrm>
            <a:off x="9135000" y="1874520"/>
            <a:ext cx="72720" cy="1965600"/>
          </a:xfrm>
          <a:prstGeom prst="rect">
            <a:avLst/>
          </a:prstGeom>
          <a:solidFill>
            <a:srgbClr val="355c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0" name="TextBox 21"/>
          <p:cNvSpPr/>
          <p:nvPr/>
        </p:nvSpPr>
        <p:spPr>
          <a:xfrm>
            <a:off x="9299520" y="203904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Strong model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1" name="TextBox 22"/>
          <p:cNvSpPr/>
          <p:nvPr/>
        </p:nvSpPr>
        <p:spPr>
          <a:xfrm>
            <a:off x="9299520" y="2532960"/>
            <a:ext cx="219420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17202a"/>
                </a:solidFill>
                <a:latin typeface="Aptos"/>
              </a:rPr>
              <a:t>Complex, risky, multi-step reasoning.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82" name="TextBox 23"/>
          <p:cNvSpPr/>
          <p:nvPr/>
        </p:nvSpPr>
        <p:spPr>
          <a:xfrm>
            <a:off x="914400" y="4709160"/>
            <a:ext cx="10240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7202a"/>
                </a:solidFill>
                <a:latin typeface="Aptos"/>
              </a:rPr>
              <a:t>Route by difficulty and risk, not only by cost.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4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5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CASE STUDY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86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15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7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Support chatbot before and after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88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The user still gets support, but the app sends less memory and avoids some calls.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89" name="Rounded Rectangle 7"/>
          <p:cNvSpPr/>
          <p:nvPr/>
        </p:nvSpPr>
        <p:spPr>
          <a:xfrm>
            <a:off x="777240" y="1645920"/>
            <a:ext cx="5166000" cy="374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0" name="Rectangle 8"/>
          <p:cNvSpPr/>
          <p:nvPr/>
        </p:nvSpPr>
        <p:spPr>
          <a:xfrm>
            <a:off x="777240" y="1645920"/>
            <a:ext cx="72720" cy="3748680"/>
          </a:xfrm>
          <a:prstGeom prst="rect">
            <a:avLst/>
          </a:prstGeom>
          <a:solidFill>
            <a:srgbClr val="b64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1" name="TextBox 9"/>
          <p:cNvSpPr/>
          <p:nvPr/>
        </p:nvSpPr>
        <p:spPr>
          <a:xfrm>
            <a:off x="941760" y="181044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Before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92" name="TextBox 10"/>
          <p:cNvSpPr/>
          <p:nvPr/>
        </p:nvSpPr>
        <p:spPr>
          <a:xfrm>
            <a:off x="978480" y="2267640"/>
            <a:ext cx="4836960" cy="29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rIns="45720" tIns="36720" bIns="3672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- Strong LLM for every request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- Full policy PDF sent every time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- Full chat history sent every time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- Long free-form answers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- Repeated FAQs call the LLM again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93" name="Rounded Rectangle 11"/>
          <p:cNvSpPr/>
          <p:nvPr/>
        </p:nvSpPr>
        <p:spPr>
          <a:xfrm>
            <a:off x="6263640" y="1645920"/>
            <a:ext cx="5166000" cy="374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4" name="Rectangle 12"/>
          <p:cNvSpPr/>
          <p:nvPr/>
        </p:nvSpPr>
        <p:spPr>
          <a:xfrm>
            <a:off x="6263640" y="1645920"/>
            <a:ext cx="72720" cy="3748680"/>
          </a:xfrm>
          <a:prstGeom prst="rect">
            <a:avLst/>
          </a:prstGeom>
          <a:solidFill>
            <a:srgbClr val="2f7d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5" name="TextBox 13"/>
          <p:cNvSpPr/>
          <p:nvPr/>
        </p:nvSpPr>
        <p:spPr>
          <a:xfrm>
            <a:off x="6428160" y="1810440"/>
            <a:ext cx="487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7202a"/>
                </a:solidFill>
                <a:latin typeface="Aptos"/>
              </a:rPr>
              <a:t>After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96" name="TextBox 14"/>
          <p:cNvSpPr/>
          <p:nvPr/>
        </p:nvSpPr>
        <p:spPr>
          <a:xfrm>
            <a:off x="6464880" y="2267640"/>
            <a:ext cx="4836960" cy="29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rIns="45720" tIns="36720" bIns="3672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- Pruned prompt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- Summary plus recent turns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- RAG for policy chunks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- Cached FAQ answers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- Short structured replies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7202a"/>
                </a:solidFill>
                <a:latin typeface="Aptos"/>
              </a:rPr>
              <a:t>- Batch jobs and model routing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8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9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ADVANCED NAMES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0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16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01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96000"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Advanced techniques and tools to remember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302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Mention these as examples of real developer tools, not mandatory choices.</a:t>
            </a:r>
            <a:endParaRPr b="0" lang="en-US" sz="1000" spc="-1" strike="noStrike">
              <a:latin typeface="Arial"/>
            </a:endParaRPr>
          </a:p>
        </p:txBody>
      </p:sp>
      <p:graphicFrame>
        <p:nvGraphicFramePr>
          <p:cNvPr id="303" name="Table 7"/>
          <p:cNvGraphicFramePr/>
          <p:nvPr/>
        </p:nvGraphicFramePr>
        <p:xfrm>
          <a:off x="731520" y="1600200"/>
          <a:ext cx="10743840" cy="4251600"/>
        </p:xfrm>
        <a:graphic>
          <a:graphicData uri="http://schemas.openxmlformats.org/drawingml/2006/table">
            <a:tbl>
              <a:tblPr/>
              <a:tblGrid>
                <a:gridCol w="4069080"/>
                <a:gridCol w="6675120"/>
              </a:tblGrid>
              <a:tr h="70848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Technique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be6d9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Names to mention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be6d9"/>
                    </a:solidFill>
                  </a:tcPr>
                </a:tc>
              </a:tr>
              <a:tr h="70848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RAG with vector databases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Pinecone, Weaviate, Microsoft Azure AI Search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48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Semantic caching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Redis, Cloudflare AI Gateway, LangChain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48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LLM routing and fallback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LiteLLM, LangChain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48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Batch processing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OpenAI Batch API, Claude Message Batches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920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Support automation patterns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7202a"/>
                          </a:solidFill>
                          <a:latin typeface="Aptos"/>
                        </a:rPr>
                        <a:t>Zendesk, Intercom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5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5" name="Rectangle 2"/>
          <p:cNvSpPr/>
          <p:nvPr/>
        </p:nvSpPr>
        <p:spPr>
          <a:xfrm>
            <a:off x="0" y="0"/>
            <a:ext cx="4480200" cy="6857640"/>
          </a:xfrm>
          <a:prstGeom prst="rect">
            <a:avLst/>
          </a:prstGeom>
          <a:solidFill>
            <a:srgbClr val="e5f1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6" name="TextBox 3"/>
          <p:cNvSpPr/>
          <p:nvPr/>
        </p:nvSpPr>
        <p:spPr>
          <a:xfrm>
            <a:off x="621720" y="320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6d77"/>
                </a:solidFill>
                <a:latin typeface="Aptos"/>
              </a:rPr>
              <a:t>CONCLUSION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7" name="TextBox 4"/>
          <p:cNvSpPr/>
          <p:nvPr/>
        </p:nvSpPr>
        <p:spPr>
          <a:xfrm>
            <a:off x="10789920" y="320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f6d76"/>
                </a:solidFill>
                <a:latin typeface="Aptos"/>
              </a:rPr>
              <a:t>17 / 17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08" name="TextBox 5"/>
          <p:cNvSpPr/>
          <p:nvPr/>
        </p:nvSpPr>
        <p:spPr>
          <a:xfrm>
            <a:off x="621720" y="804600"/>
            <a:ext cx="10789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7202a"/>
                </a:solidFill>
                <a:latin typeface="Aptos"/>
              </a:rPr>
              <a:t>Before calling the LLM API, ask: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309" name="TextBox 6"/>
          <p:cNvSpPr/>
          <p:nvPr/>
        </p:nvSpPr>
        <p:spPr>
          <a:xfrm>
            <a:off x="621720" y="6446520"/>
            <a:ext cx="10789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d76"/>
                </a:solidFill>
                <a:latin typeface="Aptos"/>
              </a:rPr>
              <a:t>End with the framework, then Q&amp;A.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10" name="Rounded Rectangle 7"/>
          <p:cNvSpPr/>
          <p:nvPr/>
        </p:nvSpPr>
        <p:spPr>
          <a:xfrm>
            <a:off x="731520" y="1965960"/>
            <a:ext cx="216684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1" name="TextBox 8"/>
          <p:cNvSpPr/>
          <p:nvPr/>
        </p:nvSpPr>
        <p:spPr>
          <a:xfrm>
            <a:off x="777240" y="2030040"/>
            <a:ext cx="20754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7202a"/>
                </a:solidFill>
                <a:latin typeface="Aptos"/>
              </a:rPr>
              <a:t>Can I remove it?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12" name="Rounded Rectangle 9"/>
          <p:cNvSpPr/>
          <p:nvPr/>
        </p:nvSpPr>
        <p:spPr>
          <a:xfrm>
            <a:off x="3035880" y="1965960"/>
            <a:ext cx="249588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3" name="TextBox 10"/>
          <p:cNvSpPr/>
          <p:nvPr/>
        </p:nvSpPr>
        <p:spPr>
          <a:xfrm>
            <a:off x="3081600" y="2030040"/>
            <a:ext cx="24044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7202a"/>
                </a:solidFill>
                <a:latin typeface="Aptos"/>
              </a:rPr>
              <a:t>Can I summarize it?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14" name="Rounded Rectangle 11"/>
          <p:cNvSpPr/>
          <p:nvPr/>
        </p:nvSpPr>
        <p:spPr>
          <a:xfrm>
            <a:off x="5669280" y="1965960"/>
            <a:ext cx="315432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5" name="TextBox 12"/>
          <p:cNvSpPr/>
          <p:nvPr/>
        </p:nvSpPr>
        <p:spPr>
          <a:xfrm>
            <a:off x="5715000" y="2030040"/>
            <a:ext cx="30628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7202a"/>
                </a:solidFill>
                <a:latin typeface="Aptos"/>
              </a:rPr>
              <a:t>Can I retrieve only part?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16" name="Rounded Rectangle 13"/>
          <p:cNvSpPr/>
          <p:nvPr/>
        </p:nvSpPr>
        <p:spPr>
          <a:xfrm>
            <a:off x="8961120" y="1965960"/>
            <a:ext cx="337392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7" name="TextBox 14"/>
          <p:cNvSpPr/>
          <p:nvPr/>
        </p:nvSpPr>
        <p:spPr>
          <a:xfrm>
            <a:off x="9006840" y="2030040"/>
            <a:ext cx="32824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7202a"/>
                </a:solidFill>
                <a:latin typeface="Aptos"/>
              </a:rPr>
              <a:t>Can I return cached answer?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18" name="Rounded Rectangle 15"/>
          <p:cNvSpPr/>
          <p:nvPr/>
        </p:nvSpPr>
        <p:spPr>
          <a:xfrm>
            <a:off x="731520" y="2496240"/>
            <a:ext cx="249588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9" name="TextBox 16"/>
          <p:cNvSpPr/>
          <p:nvPr/>
        </p:nvSpPr>
        <p:spPr>
          <a:xfrm>
            <a:off x="777240" y="2560320"/>
            <a:ext cx="24044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7202a"/>
                </a:solidFill>
                <a:latin typeface="Aptos"/>
              </a:rPr>
              <a:t>Can I limit output?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20" name="Rounded Rectangle 17"/>
          <p:cNvSpPr/>
          <p:nvPr/>
        </p:nvSpPr>
        <p:spPr>
          <a:xfrm>
            <a:off x="3364920" y="2496240"/>
            <a:ext cx="205704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1" name="TextBox 18"/>
          <p:cNvSpPr/>
          <p:nvPr/>
        </p:nvSpPr>
        <p:spPr>
          <a:xfrm>
            <a:off x="3410640" y="2560320"/>
            <a:ext cx="19656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7202a"/>
                </a:solidFill>
                <a:latin typeface="Aptos"/>
              </a:rPr>
              <a:t>Can I batch it?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22" name="Rounded Rectangle 19"/>
          <p:cNvSpPr/>
          <p:nvPr/>
        </p:nvSpPr>
        <p:spPr>
          <a:xfrm>
            <a:off x="5559480" y="2496240"/>
            <a:ext cx="205704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4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3" name="TextBox 20"/>
          <p:cNvSpPr/>
          <p:nvPr/>
        </p:nvSpPr>
        <p:spPr>
          <a:xfrm>
            <a:off x="5605200" y="2560320"/>
            <a:ext cx="19656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7202a"/>
                </a:solidFill>
                <a:latin typeface="Aptos"/>
              </a:rPr>
              <a:t>Can I route it?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24" name="TextBox 21"/>
          <p:cNvSpPr/>
          <p:nvPr/>
        </p:nvSpPr>
        <p:spPr>
          <a:xfrm>
            <a:off x="914400" y="4572000"/>
            <a:ext cx="10240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7202a"/>
                </a:solidFill>
                <a:latin typeface="Aptos"/>
              </a:rPr>
              <a:t>Memory optimization is application design: keep the right information in the cheapest useful place.</a:t>
            </a:r>
            <a:endParaRPr b="0" lang="en-US" sz="2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2026-08-17T21:03:42Z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